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660350"/>
            <a:ext cx="5440680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DEMONSTRATION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3400" y="1028402"/>
            <a:ext cx="5440680" cy="767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4"/>
              </a:lnSpc>
              <a:spcBef>
                <a:spcPts val="1600"/>
              </a:spcBef>
              <a:buNone/>
            </a:pPr>
            <a:r>
              <a:rPr lang="en-US" sz="2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fresh evidence to accountable publication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33400" y="2101155"/>
            <a:ext cx="5246370" cy="566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32"/>
              </a:lnSpc>
              <a:spcBef>
                <a:spcPts val="2400"/>
              </a:spcBef>
              <a:buNone/>
            </a:pPr>
            <a:r>
              <a:rPr lang="en-US" sz="1800" dirty="0">
                <a:solidFill>
                  <a:srgbClr val="5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auditable AI-assisted editorial pipeline for Scholar in the Loop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77000" y="0"/>
            <a:ext cx="2667000" cy="5143500"/>
          </a:xfrm>
          <a:prstGeom prst="rect">
            <a:avLst/>
          </a:prstGeom>
          <a:solidFill>
            <a:srgbClr val="182433"/>
          </a:solidFill>
          <a:ln w="9525">
            <a:solidFill>
              <a:srgbClr val="1824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791325" y="593675"/>
            <a:ext cx="2079117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100" b="1" dirty="0">
                <a:solidFill>
                  <a:srgbClr val="B58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 POINT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791325" y="974378"/>
            <a:ext cx="2079117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1700"/>
              </a:spcBef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bash run.sh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791325" y="1574155"/>
            <a:ext cx="2038350" cy="12650"/>
          </a:xfrm>
          <a:prstGeom prst="rect">
            <a:avLst/>
          </a:prstGeom>
          <a:solidFill>
            <a:srgbClr val="52616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791325" y="1916906"/>
            <a:ext cx="2079117" cy="726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D8DD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source types</a:t>
            </a:r>
            <a:endParaRPr lang="en-US" sz="1100" dirty="0"/>
          </a:p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D8DD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UTC dates</a:t>
            </a:r>
            <a:endParaRPr lang="en-US" sz="1100" dirty="0"/>
          </a:p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D8DD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evidence store</a:t>
            </a:r>
            <a:endParaRPr lang="en-US" sz="1100" dirty="0"/>
          </a:p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D8DD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approval gate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791325" y="4415284"/>
            <a:ext cx="2079117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D8DD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 1.125 · Problem Set 4</a:t>
            </a:r>
            <a:endParaRPr lang="en-US" sz="1100" dirty="0"/>
          </a:p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D8DD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Zhekai Li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3400" y="4572298"/>
            <a:ext cx="4172504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· EVIDENCE · REVISION · RECOVERY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152400"/>
            <a:ext cx="336793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 IN THE LOOP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242661" y="152400"/>
            <a:ext cx="336793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3400" y="431750"/>
            <a:ext cx="8077200" cy="12650"/>
          </a:xfrm>
          <a:prstGeom prst="rect">
            <a:avLst/>
          </a:prstGeom>
          <a:solidFill>
            <a:srgbClr val="CDD2D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698450"/>
            <a:ext cx="8238744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INSPECTABLE BOUNDARIES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33400" y="990302"/>
            <a:ext cx="8238744" cy="767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4"/>
              </a:lnSpc>
              <a:spcBef>
                <a:spcPts val="1000"/>
              </a:spcBef>
              <a:buNone/>
            </a:pPr>
            <a:r>
              <a:rPr lang="en-US" sz="2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Collection becomes publication only after review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33400" y="1803350"/>
            <a:ext cx="2565350" cy="1092101"/>
          </a:xfrm>
          <a:prstGeom prst="roundRect">
            <a:avLst>
              <a:gd name="adj" fmla="val 2326"/>
            </a:avLst>
          </a:prstGeom>
          <a:solidFill>
            <a:srgbClr val="E7EFEE"/>
          </a:solidFill>
          <a:ln w="9525">
            <a:solidFill>
              <a:srgbClr val="E7EFE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46075" y="1977926"/>
            <a:ext cx="2182800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COLLECT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46075" y="2231678"/>
            <a:ext cx="2182800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700"/>
              </a:spcBef>
              <a:buNone/>
            </a:pPr>
            <a:r>
              <a:rPr lang="en-US" sz="1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source types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46075" y="2552105"/>
            <a:ext cx="2182800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400"/>
              </a:spcBef>
              <a:buNone/>
            </a:pPr>
            <a:r>
              <a:rPr lang="en-US" sz="1100" dirty="0">
                <a:solidFill>
                  <a:srgbClr val="5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RSS · YouTube · podcast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89250" y="1803350"/>
            <a:ext cx="2565350" cy="1092101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9525">
            <a:solidFill>
              <a:srgbClr val="CDD2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501926" y="1977926"/>
            <a:ext cx="2182800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EXTRACT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01926" y="2231678"/>
            <a:ext cx="2182800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700"/>
              </a:spcBef>
              <a:buNone/>
            </a:pPr>
            <a:r>
              <a:rPr lang="en-US" sz="1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· timestamps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501926" y="2552105"/>
            <a:ext cx="2182800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400"/>
              </a:spcBef>
              <a:buNone/>
            </a:pPr>
            <a:r>
              <a:rPr lang="en-US" sz="1100" dirty="0">
                <a:solidFill>
                  <a:srgbClr val="5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Substantive evidence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45101" y="1803350"/>
            <a:ext cx="2565350" cy="1092101"/>
          </a:xfrm>
          <a:prstGeom prst="roundRect">
            <a:avLst>
              <a:gd name="adj" fmla="val 2326"/>
            </a:avLst>
          </a:prstGeom>
          <a:solidFill>
            <a:srgbClr val="F0E8DA"/>
          </a:solidFill>
          <a:ln w="9525">
            <a:solidFill>
              <a:srgbClr val="F0E8D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257776" y="1977926"/>
            <a:ext cx="2182800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STORE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57776" y="2231678"/>
            <a:ext cx="2182800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700"/>
              </a:spcBef>
              <a:buNone/>
            </a:pPr>
            <a:r>
              <a:rPr lang="en-US" sz="1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owner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257776" y="2552105"/>
            <a:ext cx="2182800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400"/>
              </a:spcBef>
              <a:buNone/>
            </a:pPr>
            <a:r>
              <a:rPr lang="en-US" sz="1100" dirty="0">
                <a:solidFill>
                  <a:srgbClr val="5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data/store.sh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3400" y="3047851"/>
            <a:ext cx="2565350" cy="1092101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9525">
            <a:solidFill>
              <a:srgbClr val="CDD2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46075" y="3222427"/>
            <a:ext cx="2182800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DECIDE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46075" y="3476179"/>
            <a:ext cx="2182800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700"/>
              </a:spcBef>
              <a:buNone/>
            </a:pPr>
            <a:r>
              <a:rPr lang="en-US" sz="1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+ briefs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46075" y="3796605"/>
            <a:ext cx="2182800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400"/>
              </a:spcBef>
              <a:buNone/>
            </a:pPr>
            <a:r>
              <a:rPr lang="en-US" sz="1100" dirty="0">
                <a:solidFill>
                  <a:srgbClr val="5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Codex, read-only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89250" y="3047851"/>
            <a:ext cx="2565350" cy="1092101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9525">
            <a:solidFill>
              <a:srgbClr val="CDD2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501926" y="3222427"/>
            <a:ext cx="2182800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REVIEW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501926" y="3476179"/>
            <a:ext cx="2182800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700"/>
              </a:spcBef>
              <a:buNone/>
            </a:pPr>
            <a:r>
              <a:rPr lang="en-US" sz="1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Fingerprint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3501926" y="3796605"/>
            <a:ext cx="2182800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400"/>
              </a:spcBef>
              <a:buNone/>
            </a:pPr>
            <a:r>
              <a:rPr lang="en-US" sz="1100" dirty="0">
                <a:solidFill>
                  <a:srgbClr val="5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checks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045101" y="3047851"/>
            <a:ext cx="2565350" cy="1092101"/>
          </a:xfrm>
          <a:prstGeom prst="roundRect">
            <a:avLst>
              <a:gd name="adj" fmla="val 2326"/>
            </a:avLst>
          </a:prstGeom>
          <a:solidFill>
            <a:srgbClr val="182433"/>
          </a:solidFill>
          <a:ln w="9525">
            <a:solidFill>
              <a:srgbClr val="1824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257776" y="3222427"/>
            <a:ext cx="2182800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100" b="1" dirty="0">
                <a:solidFill>
                  <a:srgbClr val="B58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APPROVE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57776" y="3476179"/>
            <a:ext cx="2182800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700"/>
              </a:spcBef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gate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257776" y="3796605"/>
            <a:ext cx="2182800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400"/>
              </a:spcBef>
              <a:buNone/>
            </a:pPr>
            <a:r>
              <a:rPr lang="en-US" sz="1100" dirty="0">
                <a:solidFill>
                  <a:srgbClr val="D8DD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reviewed state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33400" y="4568279"/>
            <a:ext cx="8238744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run.sh → component JSONL contracts → package/ → Google Vids · Substack · YouTube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152400"/>
            <a:ext cx="336793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 IN THE LOOP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242661" y="152400"/>
            <a:ext cx="336793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REPEATABILITY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3400" y="431750"/>
            <a:ext cx="8077200" cy="12650"/>
          </a:xfrm>
          <a:prstGeom prst="rect">
            <a:avLst/>
          </a:prstGeom>
          <a:solidFill>
            <a:srgbClr val="CDD2D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698450"/>
            <a:ext cx="8238744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LIVE RUNS ON DIFFERENT DATES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33400" y="990302"/>
            <a:ext cx="8238744" cy="767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4"/>
              </a:lnSpc>
              <a:spcBef>
                <a:spcPts val="1000"/>
              </a:spcBef>
              <a:buNone/>
            </a:pPr>
            <a:r>
              <a:rPr lang="en-US" sz="2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Repeated observations do not become fake changes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33400" y="1917650"/>
            <a:ext cx="3810000" cy="2120801"/>
          </a:xfrm>
          <a:prstGeom prst="roundRect">
            <a:avLst>
              <a:gd name="adj" fmla="val 1198"/>
            </a:avLst>
          </a:prstGeom>
          <a:solidFill>
            <a:srgbClr val="FFFFFF"/>
          </a:solidFill>
          <a:ln w="9525">
            <a:solidFill>
              <a:srgbClr val="CDD2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22275" y="2181076"/>
            <a:ext cx="3296894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9 · AWAITING REVIEW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275" y="2574578"/>
            <a:ext cx="585966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822275" y="2947839"/>
            <a:ext cx="585966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5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777752" y="2574578"/>
            <a:ext cx="261408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777752" y="2947839"/>
            <a:ext cx="261408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5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415034" y="2574578"/>
            <a:ext cx="704981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415034" y="2947839"/>
            <a:ext cx="704981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5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unchanged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275" y="3332559"/>
            <a:ext cx="3296894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600"/>
              </a:spcBef>
              <a:buNone/>
            </a:pPr>
            <a:r>
              <a:rPr lang="en-US" sz="1100" dirty="0">
                <a:solidFill>
                  <a:srgbClr val="5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articles and three scripts produced.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00600" y="1917650"/>
            <a:ext cx="3810000" cy="2120801"/>
          </a:xfrm>
          <a:prstGeom prst="roundRect">
            <a:avLst>
              <a:gd name="adj" fmla="val 1198"/>
            </a:avLst>
          </a:prstGeom>
          <a:solidFill>
            <a:srgbClr val="182433"/>
          </a:solidFill>
          <a:ln w="9525">
            <a:solidFill>
              <a:srgbClr val="1824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089475" y="2181076"/>
            <a:ext cx="3296894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100" b="1" dirty="0">
                <a:solidFill>
                  <a:srgbClr val="B58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10 · READY FOR PRODUCTION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89475" y="2574578"/>
            <a:ext cx="585966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089475" y="2947839"/>
            <a:ext cx="585966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D8DD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extracted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044952" y="2574578"/>
            <a:ext cx="261408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044952" y="2947839"/>
            <a:ext cx="261408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D8DD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682234" y="2574578"/>
            <a:ext cx="704981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682234" y="2947839"/>
            <a:ext cx="704981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D8DD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unchanged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89475" y="3332559"/>
            <a:ext cx="3296894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600"/>
              </a:spcBef>
              <a:buNone/>
            </a:pPr>
            <a:r>
              <a:rPr lang="en-US" sz="1100" dirty="0">
                <a:solidFill>
                  <a:srgbClr val="D8DD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inputs reused without new versions.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33400" y="4568279"/>
            <a:ext cx="8238744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changes.jsonl records identity and version status for every observation.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152400"/>
            <a:ext cx="336793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 IN THE LOOP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242661" y="152400"/>
            <a:ext cx="336793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PUBLISHED-CLAIM TRACE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3400" y="431750"/>
            <a:ext cx="8077200" cy="12650"/>
          </a:xfrm>
          <a:prstGeom prst="rect">
            <a:avLst/>
          </a:prstGeom>
          <a:solidFill>
            <a:srgbClr val="CDD2D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698450"/>
            <a:ext cx="8238744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SOURCE · EXACT EVIDENCE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33400" y="990302"/>
            <a:ext cx="8238744" cy="767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4"/>
              </a:lnSpc>
              <a:spcBef>
                <a:spcPts val="1000"/>
              </a:spcBef>
              <a:buNone/>
            </a:pPr>
            <a:r>
              <a:rPr lang="en-US" sz="2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qualitative perspective, not a performance result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33400" y="1854101"/>
            <a:ext cx="3873401" cy="2463701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DD2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22275" y="2117527"/>
            <a:ext cx="3361563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 EVIDENCE IDENTITY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275" y="2460129"/>
            <a:ext cx="3361563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1400"/>
              </a:spcBef>
              <a:buNone/>
            </a:pPr>
            <a:r>
              <a:rPr lang="en-US" sz="1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youtube:q_g-rU1kW2o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275" y="2856756"/>
            <a:ext cx="3361563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000"/>
              </a:spcBef>
              <a:buNone/>
            </a:pPr>
            <a:r>
              <a:rPr lang="en-US" sz="1100" dirty="0">
                <a:solidFill>
                  <a:srgbClr val="5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1972602e… · SciSpace testimonial</a:t>
            </a:r>
            <a:endParaRPr lang="en-US" sz="1100" dirty="0"/>
          </a:p>
          <a:p>
            <a:pPr algn="l" indent="0" marL="0">
              <a:lnSpc>
                <a:spcPts val="1430"/>
              </a:lnSpc>
              <a:spcBef>
                <a:spcPts val="1000"/>
              </a:spcBef>
              <a:buNone/>
            </a:pPr>
            <a:r>
              <a:rPr lang="en-US" sz="1100" dirty="0">
                <a:solidFill>
                  <a:srgbClr val="5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Timestamped transcript · 00:51–01:11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275" y="3397597"/>
            <a:ext cx="3295650" cy="636091"/>
          </a:xfrm>
          <a:prstGeom prst="roundRect">
            <a:avLst>
              <a:gd name="adj" fmla="val 3993"/>
            </a:avLst>
          </a:prstGeom>
          <a:solidFill>
            <a:srgbClr val="ECEEED"/>
          </a:solidFill>
          <a:ln w="9525">
            <a:solidFill>
              <a:srgbClr val="ECEEE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984200" y="3534073"/>
            <a:ext cx="3031236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“outsource the tedious parts” while retaining thinking, analysis, reasoning, and judgment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37199" y="1854101"/>
            <a:ext cx="3873401" cy="2463701"/>
          </a:xfrm>
          <a:prstGeom prst="roundRect">
            <a:avLst>
              <a:gd name="adj" fmla="val 1031"/>
            </a:avLst>
          </a:prstGeom>
          <a:solidFill>
            <a:srgbClr val="F0E8DA"/>
          </a:solidFill>
          <a:ln w="9525">
            <a:solidFill>
              <a:srgbClr val="F0E8D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026075" y="2117527"/>
            <a:ext cx="3361563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100" b="1" dirty="0">
                <a:solidFill>
                  <a:srgbClr val="B58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BOUNDARY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6075" y="2460129"/>
            <a:ext cx="3361563" cy="539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1400"/>
              </a:spcBef>
              <a:buNone/>
            </a:pPr>
            <a:r>
              <a:rPr lang="en-US" sz="1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workflow perspective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026075" y="3139083"/>
            <a:ext cx="3361563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100"/>
              </a:spcBef>
              <a:buNone/>
            </a:pPr>
            <a:r>
              <a:rPr lang="en-US" sz="1100" dirty="0">
                <a:solidFill>
                  <a:srgbClr val="5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 the unsupported time-saving comparison as quantitative evidence.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6075" y="3684687"/>
            <a:ext cx="3295650" cy="0"/>
          </a:xfrm>
          <a:prstGeom prst="line">
            <a:avLst/>
          </a:prstGeom>
          <a:noFill/>
          <a:ln w="9525">
            <a:solidFill>
              <a:srgbClr val="CDD2D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6075" y="3803749"/>
            <a:ext cx="3361563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5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incentive disclosed · no causal or prevalence claim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152400"/>
            <a:ext cx="336793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 IN THE LOOP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242661" y="152400"/>
            <a:ext cx="336793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EDITORIAL CORRECTION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3400" y="431750"/>
            <a:ext cx="8077200" cy="12650"/>
          </a:xfrm>
          <a:prstGeom prst="rect">
            <a:avLst/>
          </a:prstGeom>
          <a:solidFill>
            <a:srgbClr val="CDD2D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698450"/>
            <a:ext cx="8238744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REVISION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33400" y="990302"/>
            <a:ext cx="8238744" cy="767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4"/>
              </a:lnSpc>
              <a:spcBef>
                <a:spcPts val="1000"/>
              </a:spcBef>
              <a:buNone/>
            </a:pPr>
            <a:r>
              <a:rPr lang="en-US" sz="2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Rejecting one claim should not discard the useful source perspective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33400" y="1917650"/>
            <a:ext cx="2336899" cy="2108150"/>
          </a:xfrm>
          <a:prstGeom prst="roundRect">
            <a:avLst>
              <a:gd name="adj" fmla="val 1205"/>
            </a:avLst>
          </a:prstGeom>
          <a:solidFill>
            <a:srgbClr val="F0E8DA"/>
          </a:solidFill>
          <a:ln w="9525">
            <a:solidFill>
              <a:srgbClr val="F0E8D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71525" y="2181076"/>
            <a:ext cx="1897862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100" b="1" dirty="0">
                <a:solidFill>
                  <a:srgbClr val="B58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1525" y="2536478"/>
            <a:ext cx="1897862" cy="539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1500"/>
              </a:spcBef>
              <a:buNone/>
            </a:pPr>
            <a:r>
              <a:rPr lang="en-US" sz="1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 whole item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71525" y="3240881"/>
            <a:ext cx="1897862" cy="544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300"/>
              </a:spcBef>
              <a:buNone/>
            </a:pPr>
            <a:r>
              <a:rPr lang="en-US" sz="1100" dirty="0">
                <a:solidFill>
                  <a:srgbClr val="5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Unsupported efficiency comparison dominated the decision.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994456" y="2819251"/>
            <a:ext cx="28493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400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403550" y="1917650"/>
            <a:ext cx="2336899" cy="2108150"/>
          </a:xfrm>
          <a:prstGeom prst="roundRect">
            <a:avLst>
              <a:gd name="adj" fmla="val 1205"/>
            </a:avLst>
          </a:prstGeom>
          <a:solidFill>
            <a:srgbClr val="FFFFFF"/>
          </a:solidFill>
          <a:ln w="9525">
            <a:solidFill>
              <a:srgbClr val="CDD2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641675" y="2181076"/>
            <a:ext cx="1897862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REVIEW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41675" y="2536478"/>
            <a:ext cx="1897862" cy="539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1500"/>
              </a:spcBef>
              <a:buNone/>
            </a:pPr>
            <a:r>
              <a:rPr lang="en-US" sz="1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the claims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641675" y="3240881"/>
            <a:ext cx="1897862" cy="544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300"/>
              </a:spcBef>
              <a:buNone/>
            </a:pPr>
            <a:r>
              <a:rPr lang="en-US" sz="1100" dirty="0">
                <a:solidFill>
                  <a:srgbClr val="5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relevant testimony; exclude the unsupported number.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864606" y="2819251"/>
            <a:ext cx="28493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400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273701" y="1917650"/>
            <a:ext cx="2336899" cy="2108150"/>
          </a:xfrm>
          <a:prstGeom prst="roundRect">
            <a:avLst>
              <a:gd name="adj" fmla="val 1205"/>
            </a:avLst>
          </a:prstGeom>
          <a:solidFill>
            <a:srgbClr val="182433"/>
          </a:solidFill>
          <a:ln w="9525">
            <a:solidFill>
              <a:srgbClr val="1824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511826" y="2181076"/>
            <a:ext cx="1897862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100" b="1" dirty="0">
                <a:solidFill>
                  <a:srgbClr val="B58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V3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11826" y="2536478"/>
            <a:ext cx="1897862" cy="539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1500"/>
              </a:spcBef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 with limits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511826" y="3240881"/>
            <a:ext cx="1897862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300"/>
              </a:spcBef>
              <a:buNone/>
            </a:pPr>
            <a:r>
              <a:rPr lang="en-US" sz="1100" dirty="0">
                <a:solidFill>
                  <a:srgbClr val="D8DD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Pieces 02 and 03 · perspective only.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3400" y="4568279"/>
            <a:ext cx="8238744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editorial_review.md → config/editorial_policy.md → corrected October 10 rerun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152400"/>
            <a:ext cx="336793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 IN THE LOOP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242661" y="152400"/>
            <a:ext cx="336793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PUBLISHED-CLAIM TRACE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3400" y="431750"/>
            <a:ext cx="8077200" cy="12650"/>
          </a:xfrm>
          <a:prstGeom prst="rect">
            <a:avLst/>
          </a:prstGeom>
          <a:solidFill>
            <a:srgbClr val="CDD2D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698450"/>
            <a:ext cx="8238744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TO AUDIENCE FORMATS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33400" y="990302"/>
            <a:ext cx="8238744" cy="767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4"/>
              </a:lnSpc>
              <a:spcBef>
                <a:spcPts val="1000"/>
              </a:spcBef>
              <a:buNone/>
            </a:pPr>
            <a:r>
              <a:rPr lang="en-US" sz="2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bounded claim travels through every artifact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33400" y="1917650"/>
            <a:ext cx="1473101" cy="2108150"/>
          </a:xfrm>
          <a:prstGeom prst="roundRect">
            <a:avLst>
              <a:gd name="adj" fmla="val 1724"/>
            </a:avLst>
          </a:prstGeom>
          <a:solidFill>
            <a:srgbClr val="E7EFEE"/>
          </a:solidFill>
          <a:ln w="9525">
            <a:solidFill>
              <a:srgbClr val="E7EFE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20626" y="2155775"/>
            <a:ext cx="1120622" cy="329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EVIDENCE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20626" y="2701379"/>
            <a:ext cx="1120622" cy="539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1700"/>
              </a:spcBef>
              <a:buNone/>
            </a:pPr>
            <a:r>
              <a:rPr lang="en-US" sz="1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+ segments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20626" y="3405783"/>
            <a:ext cx="1120622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300"/>
              </a:spcBef>
              <a:buNone/>
            </a:pPr>
            <a:r>
              <a:rPr lang="en-US" sz="1100" dirty="0">
                <a:solidFill>
                  <a:srgbClr val="5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00:51–01:11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84202" y="1917650"/>
            <a:ext cx="1473101" cy="2108150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9525">
            <a:solidFill>
              <a:srgbClr val="CDD2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371427" y="2155775"/>
            <a:ext cx="1120622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DECISION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371427" y="2536478"/>
            <a:ext cx="1120622" cy="809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1700"/>
              </a:spcBef>
              <a:buNone/>
            </a:pPr>
            <a:r>
              <a:rPr lang="en-US" sz="1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 with limits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371427" y="3510558"/>
            <a:ext cx="1120622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300"/>
              </a:spcBef>
              <a:buNone/>
            </a:pPr>
            <a:r>
              <a:rPr lang="en-US" sz="1100" dirty="0">
                <a:solidFill>
                  <a:srgbClr val="5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Pieces 02 · 03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835003" y="1917650"/>
            <a:ext cx="1473101" cy="2108150"/>
          </a:xfrm>
          <a:prstGeom prst="roundRect">
            <a:avLst>
              <a:gd name="adj" fmla="val 1724"/>
            </a:avLst>
          </a:prstGeom>
          <a:solidFill>
            <a:srgbClr val="F0E8DA"/>
          </a:solidFill>
          <a:ln w="9525">
            <a:solidFill>
              <a:srgbClr val="F0E8D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022229" y="2155775"/>
            <a:ext cx="1120622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BRIEF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022229" y="2536478"/>
            <a:ext cx="1120622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1700"/>
              </a:spcBef>
              <a:buNone/>
            </a:pPr>
            <a:r>
              <a:rPr lang="en-US" sz="1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03-c4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022229" y="2971205"/>
            <a:ext cx="1120622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300"/>
              </a:spcBef>
              <a:buNone/>
            </a:pPr>
            <a:r>
              <a:rPr lang="en-US" sz="1100" dirty="0">
                <a:solidFill>
                  <a:srgbClr val="5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locators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5805" y="1917650"/>
            <a:ext cx="1473101" cy="2108150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9525">
            <a:solidFill>
              <a:srgbClr val="CDD2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673030" y="2155775"/>
            <a:ext cx="1120622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OUTPUTS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673030" y="2536478"/>
            <a:ext cx="1120622" cy="539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1700"/>
              </a:spcBef>
              <a:buNone/>
            </a:pPr>
            <a:r>
              <a:rPr lang="en-US" sz="1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Article + video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673030" y="3240881"/>
            <a:ext cx="1120622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300"/>
              </a:spcBef>
              <a:buNone/>
            </a:pPr>
            <a:r>
              <a:rPr lang="en-US" sz="1100" dirty="0">
                <a:solidFill>
                  <a:srgbClr val="5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claim marker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136606" y="1917650"/>
            <a:ext cx="1473101" cy="2108150"/>
          </a:xfrm>
          <a:prstGeom prst="roundRect">
            <a:avLst>
              <a:gd name="adj" fmla="val 1724"/>
            </a:avLst>
          </a:prstGeom>
          <a:solidFill>
            <a:srgbClr val="182433"/>
          </a:solidFill>
          <a:ln w="9525">
            <a:solidFill>
              <a:srgbClr val="1824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323832" y="2155775"/>
            <a:ext cx="1120622" cy="329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100" b="1" dirty="0">
                <a:solidFill>
                  <a:srgbClr val="B58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SOURCE NOTE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323832" y="2701379"/>
            <a:ext cx="1120622" cy="539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1700"/>
              </a:spcBef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Viewer trace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323832" y="3405783"/>
            <a:ext cx="1120622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300"/>
              </a:spcBef>
              <a:buNone/>
            </a:pPr>
            <a:r>
              <a:rPr lang="en-US" sz="1100" dirty="0">
                <a:solidFill>
                  <a:srgbClr val="D8DD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Resolved passage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33400" y="4568279"/>
            <a:ext cx="8238744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package/source_notes/03.md resolves 03-c4 to segments yt-00022 through yt-00027.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152400"/>
            <a:ext cx="336793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 IN THE LOOP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242661" y="152400"/>
            <a:ext cx="336793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RECOVERY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3400" y="431750"/>
            <a:ext cx="8077200" cy="12650"/>
          </a:xfrm>
          <a:prstGeom prst="rect">
            <a:avLst/>
          </a:prstGeom>
          <a:solidFill>
            <a:srgbClr val="CDD2D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698450"/>
            <a:ext cx="8238744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PRESERVED FAILURE → EXPLICIT REPAIR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33400" y="990302"/>
            <a:ext cx="8238744" cy="767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4"/>
              </a:lnSpc>
              <a:spcBef>
                <a:spcPts val="1000"/>
              </a:spcBef>
              <a:buNone/>
            </a:pPr>
            <a:r>
              <a:rPr lang="en-US" sz="2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system records what broke and how the next run recovered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33400" y="1917650"/>
            <a:ext cx="3810000" cy="2209800"/>
          </a:xfrm>
          <a:prstGeom prst="roundRect">
            <a:avLst>
              <a:gd name="adj" fmla="val 1149"/>
            </a:avLst>
          </a:prstGeom>
          <a:solidFill>
            <a:srgbClr val="F0E8DA"/>
          </a:solidFill>
          <a:ln w="9525">
            <a:solidFill>
              <a:srgbClr val="F0E8D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22275" y="2181076"/>
            <a:ext cx="3296894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100" b="1" dirty="0">
                <a:solidFill>
                  <a:srgbClr val="B58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9 FAILURE ARTIFACT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275" y="2523679"/>
            <a:ext cx="3296894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1400"/>
              </a:spcBef>
              <a:buNone/>
            </a:pPr>
            <a:r>
              <a:rPr lang="en-US" sz="1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audio + invalid 01-C1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275" y="2945755"/>
            <a:ext cx="3296894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200"/>
              </a:spcBef>
              <a:buNone/>
            </a:pPr>
            <a:r>
              <a:rPr lang="en-US" sz="1100" dirty="0">
                <a:solidFill>
                  <a:srgbClr val="5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podcasts exceeded the paid media limit. The brief schema rejected uppercase claim IDs.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00600" y="1917650"/>
            <a:ext cx="3810000" cy="2209800"/>
          </a:xfrm>
          <a:prstGeom prst="roundRect">
            <a:avLst>
              <a:gd name="adj" fmla="val 1149"/>
            </a:avLst>
          </a:prstGeom>
          <a:solidFill>
            <a:srgbClr val="182433"/>
          </a:solidFill>
          <a:ln w="9525">
            <a:solidFill>
              <a:srgbClr val="1824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089475" y="2181076"/>
            <a:ext cx="3296894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100" b="1" dirty="0">
                <a:solidFill>
                  <a:srgbClr val="B58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RECOVERED PATH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89475" y="2523679"/>
            <a:ext cx="3296894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1400"/>
              </a:spcBef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MLX timestamps + strict retry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089475" y="2945755"/>
            <a:ext cx="3296894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200"/>
              </a:spcBef>
              <a:buNone/>
            </a:pPr>
            <a:r>
              <a:rPr lang="en-US" sz="1100" dirty="0">
                <a:solidFill>
                  <a:srgbClr val="D8DD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whisper-turbo handles long audio. Codex runs read-only. Final incremental API cost: $0.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3400" y="4568279"/>
            <a:ext cx="8238744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failed run remains intact; the successful run does not rewrite its history.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152400"/>
            <a:ext cx="336793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 IN THE LOOP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242661" y="152400"/>
            <a:ext cx="336793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AND TRADEOFF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3400" y="431750"/>
            <a:ext cx="8077200" cy="12650"/>
          </a:xfrm>
          <a:prstGeom prst="rect">
            <a:avLst/>
          </a:prstGeom>
          <a:solidFill>
            <a:srgbClr val="CDD2D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698450"/>
            <a:ext cx="8238744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APPROVAL IS A STATE TRANSITION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33400" y="990302"/>
            <a:ext cx="8238744" cy="383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4"/>
              </a:lnSpc>
              <a:spcBef>
                <a:spcPts val="1000"/>
              </a:spcBef>
              <a:buNone/>
            </a:pPr>
            <a:r>
              <a:rPr lang="en-US" sz="2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changed artifact makes the old approval stale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33400" y="1905000"/>
            <a:ext cx="3835301" cy="2311301"/>
          </a:xfrm>
          <a:prstGeom prst="roundRect">
            <a:avLst>
              <a:gd name="adj" fmla="val 1099"/>
            </a:avLst>
          </a:prstGeom>
          <a:solidFill>
            <a:srgbClr val="FFFFFF"/>
          </a:solidFill>
          <a:ln w="9525">
            <a:solidFill>
              <a:srgbClr val="CDD2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22275" y="2168426"/>
            <a:ext cx="3322701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FINGERPRINT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275" y="2511028"/>
            <a:ext cx="3322701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1400"/>
              </a:spcBef>
              <a:buNone/>
            </a:pPr>
            <a:r>
              <a:rPr lang="en-US" sz="1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1361c8b…da4194a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275" y="2933105"/>
            <a:ext cx="3322701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200"/>
              </a:spcBef>
              <a:buNone/>
            </a:pPr>
            <a:r>
              <a:rPr lang="en-US" sz="1100" dirty="0">
                <a:solidFill>
                  <a:srgbClr val="5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Binds evidence, policy, prompts, articles, scripts, and deterministic checks.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275" y="3473946"/>
            <a:ext cx="3257550" cy="454521"/>
          </a:xfrm>
          <a:prstGeom prst="roundRect">
            <a:avLst>
              <a:gd name="adj" fmla="val 5588"/>
            </a:avLst>
          </a:prstGeom>
          <a:solidFill>
            <a:srgbClr val="E7EFEE"/>
          </a:solidFill>
          <a:ln w="9525">
            <a:solidFill>
              <a:srgbClr val="E7EFE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984200" y="3610421"/>
            <a:ext cx="2992374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approval.json must name this exact value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75299" y="1905000"/>
            <a:ext cx="3835301" cy="2311301"/>
          </a:xfrm>
          <a:prstGeom prst="roundRect">
            <a:avLst>
              <a:gd name="adj" fmla="val 1099"/>
            </a:avLst>
          </a:prstGeom>
          <a:solidFill>
            <a:srgbClr val="182433"/>
          </a:solidFill>
          <a:ln w="9525">
            <a:solidFill>
              <a:srgbClr val="1824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064175" y="2168426"/>
            <a:ext cx="3322701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100" b="1" dirty="0">
                <a:solidFill>
                  <a:srgbClr val="B58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ARCHITECTURAL TRADEOFF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64175" y="2511028"/>
            <a:ext cx="3322701" cy="539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1400"/>
              </a:spcBef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Auditable process boundaries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064175" y="3202781"/>
            <a:ext cx="3322701" cy="544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200"/>
              </a:spcBef>
              <a:buNone/>
            </a:pPr>
            <a:r>
              <a:rPr lang="en-US" sz="1100" dirty="0">
                <a:solidFill>
                  <a:srgbClr val="D8DD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Bash + JSONL improve replay and inspection. Pydantic, snapshots, receipts, and one store owner restore safety.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33400" y="4568279"/>
            <a:ext cx="8238744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pipeline can request review. It cannot manufacture human consent.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Scholar in the Loop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Scholar in the Loop Technical Demonstration</dc:title>
  <dc:subject>MIT 1.125 Problem Set 4 technical demonstration</dc:subject>
  <dc:creator>Zhekai Li</dc:creator>
  <cp:lastModifiedBy>Zhekai Li</cp:lastModifiedBy>
  <cp:revision>1</cp:revision>
  <dcterms:created xsi:type="dcterms:W3CDTF">2026-10-11T03:42:12Z</dcterms:created>
  <dcterms:modified xsi:type="dcterms:W3CDTF">2026-10-11T03:42:12Z</dcterms:modified>
</cp:coreProperties>
</file>