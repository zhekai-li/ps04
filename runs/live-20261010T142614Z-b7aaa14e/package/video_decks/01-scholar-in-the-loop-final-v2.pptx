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4150"/>
            <a:ext cx="557016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22437"/>
            <a:ext cx="5570169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4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expand the search space—not choose the research bet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15617"/>
            <a:ext cx="511672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900"/>
              </a:spcBef>
              <a:buNone/>
            </a:pPr>
            <a:r>
              <a:rPr lang="en-US" sz="18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can broaden discovery. It cannot decide which problem deserves years of attention.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16626" y="58578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6626" y="3541514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6626" y="132233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1676" y="679400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81676" y="878086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16626" y="205888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1676" y="1415951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81676" y="1614636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6626" y="2795439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1676" y="2152501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1676" y="2351187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81676" y="2889052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81676" y="3087737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6626" y="4427934"/>
            <a:ext cx="202750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51164"/>
            <a:ext cx="453379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AUDIENCE VIDEO · 3–5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ASYMMETRY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22437"/>
            <a:ext cx="3367939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options faster than researchers can judge them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763143"/>
            <a:ext cx="336793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output as a candidate space, not a ranked answer set.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91000" y="1034951"/>
            <a:ext cx="2336750" cy="294635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16326" y="1260277"/>
            <a:ext cx="1923821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16326" y="1636663"/>
            <a:ext cx="888950" cy="609600"/>
          </a:xfrm>
          <a:prstGeom prst="roundRect">
            <a:avLst>
              <a:gd name="adj" fmla="val 1250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68917" y="1849338"/>
            <a:ext cx="7837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06777" y="1636663"/>
            <a:ext cx="888950" cy="609600"/>
          </a:xfrm>
          <a:prstGeom prst="roundRect">
            <a:avLst>
              <a:gd name="adj" fmla="val 1250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59368" y="1849338"/>
            <a:ext cx="7837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16326" y="2347764"/>
            <a:ext cx="888950" cy="609600"/>
          </a:xfrm>
          <a:prstGeom prst="roundRect">
            <a:avLst>
              <a:gd name="adj" fmla="val 1250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68917" y="2560439"/>
            <a:ext cx="7837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06777" y="2347764"/>
            <a:ext cx="888950" cy="609600"/>
          </a:xfrm>
          <a:prstGeom prst="roundRect">
            <a:avLst>
              <a:gd name="adj" fmla="val 1250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59368" y="2560439"/>
            <a:ext cx="7837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16326" y="3058864"/>
            <a:ext cx="888950" cy="609600"/>
          </a:xfrm>
          <a:prstGeom prst="roundRect">
            <a:avLst>
              <a:gd name="adj" fmla="val 1250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68917" y="3271540"/>
            <a:ext cx="7837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06777" y="3058864"/>
            <a:ext cx="888950" cy="609600"/>
          </a:xfrm>
          <a:prstGeom prst="roundRect">
            <a:avLst>
              <a:gd name="adj" fmla="val 1250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59368" y="3271540"/>
            <a:ext cx="7837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833" y="2330351"/>
            <a:ext cx="44038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64301" y="1581150"/>
            <a:ext cx="1422350" cy="1854101"/>
          </a:xfrm>
          <a:prstGeom prst="roundRect">
            <a:avLst>
              <a:gd name="adj" fmla="val 5357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28144" y="1895475"/>
            <a:ext cx="1094664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28144" y="2208461"/>
            <a:ext cx="109466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28144" y="2706737"/>
            <a:ext cx="109466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18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and justifies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EXPLORATION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broadly. Then follow evidence deeply.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25501"/>
            <a:ext cx="3708350" cy="2387501"/>
          </a:xfrm>
          <a:prstGeom prst="roundRect">
            <a:avLst>
              <a:gd name="adj" fmla="val 3192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1914376"/>
            <a:ext cx="319321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BREADTH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252663"/>
            <a:ext cx="319321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adjacent literatures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2700040"/>
            <a:ext cx="319321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questions, methods, mechanisms, and neighboring fields before narrowing.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6075" y="3291780"/>
            <a:ext cx="965150" cy="457200"/>
          </a:xfrm>
          <a:prstGeom prst="roundRect">
            <a:avLst>
              <a:gd name="adj" fmla="val 16667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7905" y="3428256"/>
            <a:ext cx="8614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12727" y="3291780"/>
            <a:ext cx="965150" cy="457200"/>
          </a:xfrm>
          <a:prstGeom prst="roundRect">
            <a:avLst>
              <a:gd name="adj" fmla="val 16667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64556" y="3428256"/>
            <a:ext cx="8614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79378" y="3291780"/>
            <a:ext cx="965150" cy="457200"/>
          </a:xfrm>
          <a:prstGeom prst="roundRect">
            <a:avLst>
              <a:gd name="adj" fmla="val 16667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31207" y="3428256"/>
            <a:ext cx="8614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51733" y="2603450"/>
            <a:ext cx="44038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78450" y="1625501"/>
            <a:ext cx="3708350" cy="2387501"/>
          </a:xfrm>
          <a:prstGeom prst="roundRect">
            <a:avLst>
              <a:gd name="adj" fmla="val 3192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67325" y="1914376"/>
            <a:ext cx="319321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DEPTH FIRST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67325" y="2252663"/>
            <a:ext cx="319321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mechanisms and citations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67325" y="2969716"/>
            <a:ext cx="319321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every decisive claim upstream until its evidence and dependencies are visible.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7325" y="3561457"/>
            <a:ext cx="965150" cy="45720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E1F2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6251" y="3697932"/>
            <a:ext cx="88729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33976" y="3561457"/>
            <a:ext cx="965150" cy="45720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E1F2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72902" y="3697932"/>
            <a:ext cx="88729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0627" y="3561457"/>
            <a:ext cx="965150" cy="45720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E1F2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39553" y="3697932"/>
            <a:ext cx="88729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commentary · exploration architecture, not proof of correctness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BOUNDARY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responsibilities do not transfer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27150"/>
            <a:ext cx="1943100" cy="21336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965275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5325" y="2430661"/>
            <a:ext cx="149618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5325" y="2865388"/>
            <a:ext cx="149618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scientific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2700" y="1727150"/>
            <a:ext cx="1943100" cy="21336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90825" y="1965275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90825" y="2430661"/>
            <a:ext cx="149618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90825" y="2865388"/>
            <a:ext cx="149618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model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727150"/>
            <a:ext cx="1943100" cy="21336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1965275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6325" y="2430661"/>
            <a:ext cx="149618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6325" y="2865388"/>
            <a:ext cx="149618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decisive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43700" y="1727150"/>
            <a:ext cx="1943100" cy="2133600"/>
          </a:xfrm>
          <a:prstGeom prst="roundRect">
            <a:avLst>
              <a:gd name="adj" fmla="val 3922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1825" y="1965275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81825" y="2430661"/>
            <a:ext cx="149618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1825" y="2865388"/>
            <a:ext cx="149618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every material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the researcher remains accountable for the intellectual commitment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497580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IS A JUDGMENT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22437"/>
            <a:ext cx="3497580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patterns are not automatically important problems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86943"/>
            <a:ext cx="3497580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neglected direction may be profound, infeasible, or merely unfashionable.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888950"/>
            <a:ext cx="4343400" cy="3352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zhekaili/Documents/1125/Lesson09/production/video_decks/assets/portfolio-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4426" y="999976"/>
            <a:ext cx="4140101" cy="31495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VERIFICATION SCALES POORLY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error can travel through a dependency graph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4901" y="2133451"/>
            <a:ext cx="1978819" cy="1295400"/>
          </a:xfrm>
          <a:prstGeom prst="roundRect">
            <a:avLst>
              <a:gd name="adj" fmla="val 5882"/>
            </a:avLst>
          </a:prstGeom>
          <a:solidFill>
            <a:srgbClr val="F6DFDA"/>
          </a:solidFill>
          <a:ln w="9525">
            <a:solidFill>
              <a:srgbClr val="E4B0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71576"/>
            <a:ext cx="1532620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D76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3026" y="2709863"/>
            <a:ext cx="153262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error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7250" y="2603302"/>
            <a:ext cx="42535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6138" y="2133451"/>
            <a:ext cx="2175123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24263" y="2371576"/>
            <a:ext cx="1732851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24263" y="2709863"/>
            <a:ext cx="173285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invalidated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34791" y="2603302"/>
            <a:ext cx="42535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33679" y="2031802"/>
            <a:ext cx="2175123" cy="1498550"/>
          </a:xfrm>
          <a:prstGeom prst="roundRect">
            <a:avLst>
              <a:gd name="adj" fmla="val 5085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1804" y="2269927"/>
            <a:ext cx="1732851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71804" y="2582912"/>
            <a:ext cx="173285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affected</a:t>
            </a:r>
            <a:endParaRPr lang="en-US" sz="1800" dirty="0"/>
          </a:p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affected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illustrates propagation, not a general failure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committing, answer five questions in your own words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9125" y="2738289"/>
            <a:ext cx="126301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explained?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0801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2726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2726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2726" y="2738289"/>
            <a:ext cx="126301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84402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6327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6327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46327" y="2738289"/>
            <a:ext cx="126301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non-obvious?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8002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9927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9927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09927" y="2738289"/>
            <a:ext cx="126301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1603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73528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3528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73528" y="2738289"/>
            <a:ext cx="126301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weaken it?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91323"/>
            <a:ext cx="809619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candidates enter. One researcher-justified bet exits.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526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31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0600" y="15731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18808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exploration commentary · breadth-first and depth-first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84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9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600" y="22589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0600" y="25666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formulation, auditing, reproduction, and defense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42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7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0600" y="29447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0600" y="32524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testimony · academia and high-risk research bets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100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05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0600" y="36305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39382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error propagation across dependent manuscripts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AI to Expand the Search Space, Not Choose the Research Bet</dc:title>
  <dc:subject>Scholar in the Loop audience video visual deck</dc:subject>
  <dc:creator>Zhekai Li</dc:creator>
  <cp:lastModifiedBy>Zhekai Li</cp:lastModifiedBy>
  <cp:revision>1</cp:revision>
  <dcterms:created xsi:type="dcterms:W3CDTF">2026-10-10T20:52:37Z</dcterms:created>
  <dcterms:modified xsi:type="dcterms:W3CDTF">2026-10-10T20:52:37Z</dcterms:modified>
</cp:coreProperties>
</file>