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34901"/>
            <a:ext cx="5440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400" y="1011287"/>
            <a:ext cx="5440680" cy="119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6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expand the search space—not choose the research bet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2510433"/>
            <a:ext cx="5052060" cy="603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can broaden discovery. It cannot decide which problem deserves years of attention.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91325" y="572988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1325" y="3681115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1325" y="13476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1325" y="71735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1325" y="953988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91325" y="212228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1325" y="149200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91325" y="172863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91325" y="28969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1325" y="226665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91325" y="250328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91325" y="3041303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1325" y="327793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1325" y="4407098"/>
            <a:ext cx="207911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400" y="4563963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736550"/>
            <a:ext cx="32644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ASYMMETRY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1036737"/>
            <a:ext cx="3264408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options faster than researchers can judge them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959298"/>
            <a:ext cx="3264408" cy="90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spcBef>
                <a:spcPts val="26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output as a candidate space, not a ranked answer set.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40101" y="1079450"/>
            <a:ext cx="2412950" cy="294635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78226" y="1368326"/>
            <a:ext cx="1975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78226" y="1795463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34005" y="1985963"/>
            <a:ext cx="777392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127" y="1795463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49906" y="1985963"/>
            <a:ext cx="777392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8226" y="2532013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34005" y="2722513"/>
            <a:ext cx="777392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127" y="2532013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49906" y="2722513"/>
            <a:ext cx="777392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78226" y="3268563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34005" y="3459063"/>
            <a:ext cx="777392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127" y="3268563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49906" y="3459063"/>
            <a:ext cx="777392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8842" y="2374702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13253" y="1600051"/>
            <a:ext cx="1396901" cy="1905000"/>
          </a:xfrm>
          <a:prstGeom prst="roundRect">
            <a:avLst>
              <a:gd name="adj" fmla="val 1818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16213" y="1888927"/>
            <a:ext cx="9909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16213" y="2265313"/>
            <a:ext cx="990981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16213" y="2777282"/>
            <a:ext cx="990981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spcBef>
                <a:spcPts val="18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</a:t>
            </a:r>
            <a:endParaRPr lang="en-US" sz="1100" dirty="0"/>
          </a:p>
          <a:p>
            <a:pPr algn="ctr" indent="0" marL="0">
              <a:lnSpc>
                <a:spcPts val="1562"/>
              </a:lnSpc>
              <a:spcBef>
                <a:spcPts val="18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justifies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EXPLORATION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broadly. Then follow evidence deeply.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739801"/>
            <a:ext cx="3708350" cy="2286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2054126"/>
            <a:ext cx="31412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7725" y="2417862"/>
            <a:ext cx="3141294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adjacent literatures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7725" y="2891730"/>
            <a:ext cx="3141294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questions, methods, mechanisms, and neighboring fields before narrowing.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7725" y="3529757"/>
            <a:ext cx="958900" cy="431750"/>
          </a:xfrm>
          <a:prstGeom prst="roundRect">
            <a:avLst>
              <a:gd name="adj" fmla="val 5883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02805" y="3631257"/>
            <a:ext cx="848740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08125" y="3529757"/>
            <a:ext cx="958900" cy="431750"/>
          </a:xfrm>
          <a:prstGeom prst="roundRect">
            <a:avLst>
              <a:gd name="adj" fmla="val 5883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63205" y="3631257"/>
            <a:ext cx="848740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68526" y="3529757"/>
            <a:ext cx="958900" cy="431750"/>
          </a:xfrm>
          <a:prstGeom prst="roundRect">
            <a:avLst>
              <a:gd name="adj" fmla="val 5883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23606" y="3631257"/>
            <a:ext cx="848740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77690" y="2666851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02250" y="1739801"/>
            <a:ext cx="3708350" cy="2286000"/>
          </a:xfrm>
          <a:prstGeom prst="roundRect">
            <a:avLst>
              <a:gd name="adj" fmla="val 1111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6575" y="2054126"/>
            <a:ext cx="31412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FIRST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6575" y="2417862"/>
            <a:ext cx="314129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mechanisms and citations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6575" y="3175099"/>
            <a:ext cx="3141294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every decisive claim upstream until its evidence and dependencies are visible.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6575" y="3813125"/>
            <a:ext cx="958900" cy="431750"/>
          </a:xfrm>
          <a:prstGeom prst="rect">
            <a:avLst/>
          </a:prstGeom>
          <a:noFill/>
          <a:ln w="9525">
            <a:solidFill>
              <a:srgbClr val="6C85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55563" y="3924151"/>
            <a:ext cx="880923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6975" y="3813125"/>
            <a:ext cx="958900" cy="431750"/>
          </a:xfrm>
          <a:prstGeom prst="rect">
            <a:avLst/>
          </a:prstGeom>
          <a:noFill/>
          <a:ln w="9525">
            <a:solidFill>
              <a:srgbClr val="6C85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15964" y="3924151"/>
            <a:ext cx="880923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37375" y="3813125"/>
            <a:ext cx="958900" cy="431750"/>
          </a:xfrm>
          <a:prstGeom prst="rect">
            <a:avLst/>
          </a:prstGeom>
          <a:noFill/>
          <a:ln w="9525">
            <a:solidFill>
              <a:srgbClr val="6C85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76364" y="3924151"/>
            <a:ext cx="880923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commentary · exploration architecture, not proof of correctness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BOUNDARY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responsibilities do not transfer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765250"/>
            <a:ext cx="1905000" cy="2133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2397026"/>
            <a:ext cx="145732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1525" y="2870895"/>
            <a:ext cx="145732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scientific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90800" y="1765250"/>
            <a:ext cx="1905000" cy="2133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28925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28925" y="2397026"/>
            <a:ext cx="145732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28925" y="2870895"/>
            <a:ext cx="145732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model 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1765250"/>
            <a:ext cx="1905000" cy="2133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6325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6325" y="2397026"/>
            <a:ext cx="145732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6325" y="2870895"/>
            <a:ext cx="145732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decisive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05600" y="1765250"/>
            <a:ext cx="1905000" cy="2133600"/>
          </a:xfrm>
          <a:prstGeom prst="roundRect">
            <a:avLst>
              <a:gd name="adj" fmla="val 133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43725" y="2054126"/>
            <a:ext cx="355550" cy="38100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43725" y="2397026"/>
            <a:ext cx="145732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3725" y="2870895"/>
            <a:ext cx="145732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every material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the researcher remains accountable for the intellectual commitment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 IS A JUDGMENT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promising research bet must satisfy three tests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765250"/>
            <a:ext cx="2590800" cy="1524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826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6826" y="2308027"/>
            <a:ext cx="210522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6826" y="2743795"/>
            <a:ext cx="210522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matters beyond convenience or novelty.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6600" y="1765250"/>
            <a:ext cx="2590800" cy="1524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0026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40026" y="2308027"/>
            <a:ext cx="210522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Non-obvious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0026" y="2743795"/>
            <a:ext cx="210522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direction adds more than a familiar pattern.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19800" y="1765250"/>
            <a:ext cx="2590800" cy="1524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3226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3226" y="2308027"/>
            <a:ext cx="210522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3226" y="2743795"/>
            <a:ext cx="210522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can weaken the claim, not only support it.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3400" y="3517850"/>
            <a:ext cx="8077200" cy="787301"/>
          </a:xfrm>
          <a:prstGeom prst="roundRect">
            <a:avLst>
              <a:gd name="adj" fmla="val 3226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7281" y="3628132"/>
            <a:ext cx="7649438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judgment integrates significance, originality, and feasibility.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VERIFICATION SCALES POORLY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error can travel through a dependency graph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095351"/>
            <a:ext cx="1960066" cy="1320701"/>
          </a:xfrm>
          <a:prstGeom prst="roundRect">
            <a:avLst>
              <a:gd name="adj" fmla="val 192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6575" y="2371576"/>
            <a:ext cx="1487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6575" y="2735312"/>
            <a:ext cx="1487686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error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19875" y="2577852"/>
            <a:ext cx="37662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70511" y="2095351"/>
            <a:ext cx="2181523" cy="1320701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21286" y="2371576"/>
            <a:ext cx="17135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MANUSCRIPT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21286" y="2735312"/>
            <a:ext cx="171357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invalidated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26042" y="2577852"/>
            <a:ext cx="37662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76677" y="2006501"/>
            <a:ext cx="2181523" cy="1498550"/>
          </a:xfrm>
          <a:prstGeom prst="roundRect">
            <a:avLst>
              <a:gd name="adj" fmla="val 1695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27453" y="2282726"/>
            <a:ext cx="17135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27453" y="2633663"/>
            <a:ext cx="171357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affected</a:t>
            </a:r>
            <a:endParaRPr lang="en-US" sz="1800" dirty="0"/>
          </a:p>
          <a:p>
            <a:pPr algn="l" indent="0" marL="0">
              <a:lnSpc>
                <a:spcPts val="2232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affected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illustrates propagation, not a general failure 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GATE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committing, answer five questions in your own words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8033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2066776"/>
            <a:ext cx="1131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075" y="2468612"/>
            <a:ext cx="113109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6075" y="2917031"/>
            <a:ext cx="113109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being explained?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9170" y="1803350"/>
            <a:ext cx="1534120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81845" y="2066776"/>
            <a:ext cx="11309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81845" y="2468612"/>
            <a:ext cx="113094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81845" y="2917031"/>
            <a:ext cx="113094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04791" y="18033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17466" y="2066776"/>
            <a:ext cx="1131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17466" y="2468612"/>
            <a:ext cx="1131097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novelty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17466" y="3200400"/>
            <a:ext cx="113109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non-obvious?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561" y="18033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53236" y="2066776"/>
            <a:ext cx="1131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3236" y="2468612"/>
            <a:ext cx="113109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53236" y="2917031"/>
            <a:ext cx="113109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true?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76331" y="18033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89006" y="2066776"/>
            <a:ext cx="1131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89006" y="2468612"/>
            <a:ext cx="1131097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89006" y="3200400"/>
            <a:ext cx="113109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weaken it?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400" y="4377630"/>
            <a:ext cx="8238744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candidates enter. One researcher-justified bet exits.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3400" y="22935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18030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17649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20864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exploration commentary · breadth-first and depth-first 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3400" y="29412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4507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24126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27341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formulation, auditing, reproduction, and defense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3400" y="35889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30984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30603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3818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testimony · academia and high-risk research bets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3400" y="42366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37461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37080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40295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error propagation across dependent manuscripts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AI to Expand the Search Space, Not Choose the Research Bet</dc:title>
  <dc:subject>Scholar in the Loop audience video visual deck</dc:subject>
  <dc:creator>Zhekai Li</dc:creator>
  <cp:lastModifiedBy>Zhekai Li</cp:lastModifiedBy>
  <cp:revision>1</cp:revision>
  <dcterms:created xsi:type="dcterms:W3CDTF">2026-10-10T22:30:24Z</dcterms:created>
  <dcterms:modified xsi:type="dcterms:W3CDTF">2026-10-10T22:30:24Z</dcterms:modified>
</cp:coreProperties>
</file>