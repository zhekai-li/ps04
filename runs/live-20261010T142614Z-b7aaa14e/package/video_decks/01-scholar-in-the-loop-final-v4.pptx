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634901"/>
            <a:ext cx="544068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3400" y="1002953"/>
            <a:ext cx="5440680" cy="1151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16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AI to expand the search space—not choose the research bet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3400" y="2459682"/>
            <a:ext cx="5052060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2400"/>
              </a:spcBef>
              <a:buNone/>
            </a:pPr>
            <a:r>
              <a:rPr lang="en-US" sz="18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can broaden discovery. It cannot decide which problem deserves years of attention.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77000" y="0"/>
            <a:ext cx="2667000" cy="5143500"/>
          </a:xfrm>
          <a:prstGeom prst="rect">
            <a:avLst/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791325" y="572988"/>
            <a:ext cx="20574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91325" y="3681115"/>
            <a:ext cx="20574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91325" y="1347639"/>
            <a:ext cx="20574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91325" y="717352"/>
            <a:ext cx="2098548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D8E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91325" y="945654"/>
            <a:ext cx="2098548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791325" y="2122289"/>
            <a:ext cx="20574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91325" y="1492002"/>
            <a:ext cx="2098548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D8E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91325" y="1720304"/>
            <a:ext cx="2098548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791325" y="2896939"/>
            <a:ext cx="20574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91325" y="2266652"/>
            <a:ext cx="2098548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D8E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91325" y="2494955"/>
            <a:ext cx="2098548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91325" y="3041303"/>
            <a:ext cx="2098548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91325" y="3269605"/>
            <a:ext cx="2098548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owns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91325" y="4440734"/>
            <a:ext cx="207911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presentation</a:t>
            </a:r>
            <a:endParaRPr lang="en-US" sz="1100" dirty="0"/>
          </a:p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reviewed by Zhekai Li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3400" y="4572298"/>
            <a:ext cx="388620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736550"/>
            <a:ext cx="3264408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USEFUL ASYMMETRY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1028402"/>
            <a:ext cx="3264408" cy="1535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 options faster than researchers can judge them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33400" y="2894409"/>
            <a:ext cx="3264408" cy="85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2600"/>
              </a:spcBef>
              <a:buNone/>
            </a:pPr>
            <a:r>
              <a:rPr lang="en-US" sz="18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the output as a candidate space, not a ranked answer set.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40101" y="1079450"/>
            <a:ext cx="2412950" cy="294635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78226" y="1368326"/>
            <a:ext cx="197543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SPACE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78226" y="1787128"/>
            <a:ext cx="888950" cy="609600"/>
          </a:xfrm>
          <a:prstGeom prst="roundRect">
            <a:avLst>
              <a:gd name="adj" fmla="val 4167"/>
            </a:avLst>
          </a:prstGeom>
          <a:solidFill>
            <a:srgbClr val="E7EF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434005" y="1977628"/>
            <a:ext cx="777392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94127" y="1787128"/>
            <a:ext cx="888950" cy="609600"/>
          </a:xfrm>
          <a:prstGeom prst="roundRect">
            <a:avLst>
              <a:gd name="adj" fmla="val 4167"/>
            </a:avLst>
          </a:prstGeom>
          <a:solidFill>
            <a:srgbClr val="E7EF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449906" y="1977628"/>
            <a:ext cx="777392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78226" y="2523679"/>
            <a:ext cx="888950" cy="609600"/>
          </a:xfrm>
          <a:prstGeom prst="roundRect">
            <a:avLst>
              <a:gd name="adj" fmla="val 4167"/>
            </a:avLst>
          </a:prstGeom>
          <a:solidFill>
            <a:srgbClr val="E7EF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34005" y="2714179"/>
            <a:ext cx="777392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94127" y="2523679"/>
            <a:ext cx="888950" cy="609600"/>
          </a:xfrm>
          <a:prstGeom prst="roundRect">
            <a:avLst>
              <a:gd name="adj" fmla="val 4167"/>
            </a:avLst>
          </a:prstGeom>
          <a:solidFill>
            <a:srgbClr val="E7EF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449906" y="2714179"/>
            <a:ext cx="777392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78226" y="3260229"/>
            <a:ext cx="888950" cy="609600"/>
          </a:xfrm>
          <a:prstGeom prst="roundRect">
            <a:avLst>
              <a:gd name="adj" fmla="val 4167"/>
            </a:avLst>
          </a:prstGeom>
          <a:solidFill>
            <a:srgbClr val="E7EF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434005" y="3450729"/>
            <a:ext cx="777392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94127" y="3260229"/>
            <a:ext cx="888950" cy="609600"/>
          </a:xfrm>
          <a:prstGeom prst="roundRect">
            <a:avLst>
              <a:gd name="adj" fmla="val 4167"/>
            </a:avLst>
          </a:prstGeom>
          <a:solidFill>
            <a:srgbClr val="E7EF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449906" y="3450729"/>
            <a:ext cx="777392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88842" y="2374702"/>
            <a:ext cx="38862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213253" y="1600051"/>
            <a:ext cx="1396901" cy="1905000"/>
          </a:xfrm>
          <a:prstGeom prst="roundRect">
            <a:avLst>
              <a:gd name="adj" fmla="val 1818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416213" y="1888927"/>
            <a:ext cx="990981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16213" y="2256979"/>
            <a:ext cx="990981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24"/>
              </a:lnSpc>
              <a:spcBef>
                <a:spcPts val="16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416213" y="2755255"/>
            <a:ext cx="990981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spcBef>
                <a:spcPts val="1800"/>
              </a:spcBef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Prioritizes</a:t>
            </a:r>
            <a:endParaRPr lang="en-US" sz="1100" dirty="0"/>
          </a:p>
          <a:p>
            <a:pPr algn="ctr" indent="0" marL="0">
              <a:lnSpc>
                <a:spcPts val="1430"/>
              </a:lnSpc>
              <a:spcBef>
                <a:spcPts val="1800"/>
              </a:spcBef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justifies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STAGED EXPLORATION PATTERN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0302"/>
            <a:ext cx="8238744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broadly. Then follow evidence deeply.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33400" y="1981200"/>
            <a:ext cx="3708350" cy="2209800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22275" y="2244626"/>
            <a:ext cx="319321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BREADTH FIRST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275" y="2600027"/>
            <a:ext cx="3193212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5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adjacent literatures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275" y="3022104"/>
            <a:ext cx="319321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questions, methods, mechanisms, and neighboring fields before narrowing.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275" y="3550295"/>
            <a:ext cx="888950" cy="381000"/>
          </a:xfrm>
          <a:prstGeom prst="roundRect">
            <a:avLst>
              <a:gd name="adj" fmla="val 6667"/>
            </a:avLst>
          </a:prstGeom>
          <a:solidFill>
            <a:srgbClr val="E7EF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2248" y="3639145"/>
            <a:ext cx="829005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43100" y="3550295"/>
            <a:ext cx="888950" cy="381000"/>
          </a:xfrm>
          <a:prstGeom prst="roundRect">
            <a:avLst>
              <a:gd name="adj" fmla="val 6667"/>
            </a:avLst>
          </a:prstGeom>
          <a:solidFill>
            <a:srgbClr val="E7EF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973072" y="3639145"/>
            <a:ext cx="829005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63925" y="3550295"/>
            <a:ext cx="888950" cy="381000"/>
          </a:xfrm>
          <a:prstGeom prst="roundRect">
            <a:avLst>
              <a:gd name="adj" fmla="val 6667"/>
            </a:avLst>
          </a:prstGeom>
          <a:solidFill>
            <a:srgbClr val="E7EF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093897" y="3639145"/>
            <a:ext cx="829005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77690" y="2908250"/>
            <a:ext cx="38862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902250" y="1981200"/>
            <a:ext cx="3708350" cy="2209800"/>
          </a:xfrm>
          <a:prstGeom prst="roundRect">
            <a:avLst>
              <a:gd name="adj" fmla="val 1149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191125" y="2244626"/>
            <a:ext cx="319321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D8E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FIRST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91125" y="2600027"/>
            <a:ext cx="3193212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5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mechanisms and citations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91125" y="3291780"/>
            <a:ext cx="319321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every decisive claim upstream until its evidence and dependencies are visible.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91125" y="3781871"/>
            <a:ext cx="787301" cy="355550"/>
          </a:xfrm>
          <a:prstGeom prst="rect">
            <a:avLst/>
          </a:prstGeom>
          <a:noFill/>
          <a:ln w="9525">
            <a:solidFill>
              <a:srgbClr val="6C85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231829" y="3867596"/>
            <a:ext cx="705892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79927" y="3781871"/>
            <a:ext cx="787301" cy="355550"/>
          </a:xfrm>
          <a:prstGeom prst="rect">
            <a:avLst/>
          </a:prstGeom>
          <a:noFill/>
          <a:ln w="9525">
            <a:solidFill>
              <a:srgbClr val="6C85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120631" y="3867596"/>
            <a:ext cx="705892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68728" y="3781871"/>
            <a:ext cx="1320701" cy="355550"/>
          </a:xfrm>
          <a:prstGeom prst="rect">
            <a:avLst/>
          </a:prstGeom>
          <a:noFill/>
          <a:ln w="9525">
            <a:solidFill>
              <a:srgbClr val="6C85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004099" y="3867596"/>
            <a:ext cx="124996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3400" y="4479429"/>
            <a:ext cx="8238744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Machine Intelligence commentary · exploration architecture, not proof of correctness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HUMAN BOUNDARY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0302"/>
            <a:ext cx="8238744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responsibilities do not transfer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33400" y="2006501"/>
            <a:ext cx="1905000" cy="21336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1525" y="2295376"/>
            <a:ext cx="355550" cy="38100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1525" y="2638276"/>
            <a:ext cx="1457325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24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1525" y="3098453"/>
            <a:ext cx="1457325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5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scientific problem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90800" y="2006501"/>
            <a:ext cx="1905000" cy="21336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828925" y="2295376"/>
            <a:ext cx="355550" cy="38100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828925" y="2638276"/>
            <a:ext cx="1457325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24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28925" y="3098453"/>
            <a:ext cx="1457325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5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model outputs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48200" y="2006501"/>
            <a:ext cx="1905000" cy="21336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86325" y="2295376"/>
            <a:ext cx="355550" cy="38100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86325" y="2638276"/>
            <a:ext cx="1457325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24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86325" y="3098453"/>
            <a:ext cx="1457325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5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decisive results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05600" y="2006501"/>
            <a:ext cx="1905000" cy="2133600"/>
          </a:xfrm>
          <a:prstGeom prst="roundRect">
            <a:avLst>
              <a:gd name="adj" fmla="val 1333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943725" y="2295376"/>
            <a:ext cx="355550" cy="38100"/>
          </a:xfrm>
          <a:prstGeom prst="rect">
            <a:avLst/>
          </a:prstGeom>
          <a:solidFill>
            <a:srgbClr val="B58A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943725" y="2638276"/>
            <a:ext cx="1457325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24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43725" y="3098453"/>
            <a:ext cx="1457325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500"/>
              </a:spcBef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every material choice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3400" y="4479429"/>
            <a:ext cx="8238744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expert perspective · the researcher remains accountable for the intellectual commitment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ORIGINALITY IS A JUDGMENT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0302"/>
            <a:ext cx="8238744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promising research bet must satisfy three tests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33400" y="2006501"/>
            <a:ext cx="2590800" cy="15240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96826" y="2295376"/>
            <a:ext cx="355550" cy="38100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96826" y="2549277"/>
            <a:ext cx="2105227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7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96826" y="2971354"/>
            <a:ext cx="21052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matters beyond convenience or novelty.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76600" y="2006501"/>
            <a:ext cx="2590800" cy="15240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40026" y="2295376"/>
            <a:ext cx="355550" cy="38100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40026" y="2549277"/>
            <a:ext cx="2105227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7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Non-obvious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40026" y="2971354"/>
            <a:ext cx="21052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direction adds more than a familiar pattern.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19800" y="2006501"/>
            <a:ext cx="2590800" cy="15240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83226" y="2295376"/>
            <a:ext cx="355550" cy="38100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83226" y="2549277"/>
            <a:ext cx="2105227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7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Testable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83226" y="2971354"/>
            <a:ext cx="210522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can weaken the claim, not only support it.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3400" y="3517850"/>
            <a:ext cx="8077200" cy="787301"/>
          </a:xfrm>
          <a:prstGeom prst="roundRect">
            <a:avLst>
              <a:gd name="adj" fmla="val 3226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47281" y="3641824"/>
            <a:ext cx="7649438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 judgment integrates significance, originality, and feasibility.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VERIFICATION SCALES POORLY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0302"/>
            <a:ext cx="8238744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local error can travel through a dependency graph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2197001"/>
            <a:ext cx="1960066" cy="1320701"/>
          </a:xfrm>
          <a:prstGeom prst="roundRect">
            <a:avLst>
              <a:gd name="adj" fmla="val 1923"/>
            </a:avLst>
          </a:prstGeom>
          <a:solidFill>
            <a:srgbClr val="F0E8DA"/>
          </a:solidFill>
          <a:ln w="9525">
            <a:solidFill>
              <a:srgbClr val="F0E8D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36575" y="2473226"/>
            <a:ext cx="148768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6575" y="2828627"/>
            <a:ext cx="1487686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5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error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819875" y="2679502"/>
            <a:ext cx="376627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70511" y="2197001"/>
            <a:ext cx="2181523" cy="1320701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21286" y="2473226"/>
            <a:ext cx="1713571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MANUSCRIPT 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21286" y="2828627"/>
            <a:ext cx="1713571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5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Argument invalidated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726042" y="2679502"/>
            <a:ext cx="376627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76677" y="2108150"/>
            <a:ext cx="2181523" cy="1498550"/>
          </a:xfrm>
          <a:prstGeom prst="roundRect">
            <a:avLst>
              <a:gd name="adj" fmla="val 1695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527453" y="2384375"/>
            <a:ext cx="1713571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D8E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 WORK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27453" y="2726978"/>
            <a:ext cx="1713571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40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affected</a:t>
            </a:r>
            <a:endParaRPr lang="en-US" sz="1800" dirty="0"/>
          </a:p>
          <a:p>
            <a:pPr algn="l" indent="0" marL="0">
              <a:lnSpc>
                <a:spcPts val="2124"/>
              </a:lnSpc>
              <a:spcBef>
                <a:spcPts val="140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affected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3400" y="4479429"/>
            <a:ext cx="8238744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Retraction Watch report · illustrates propagation, not a general failure rate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GATE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0302"/>
            <a:ext cx="8238744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committing, answer five questions in your own words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33400" y="2031950"/>
            <a:ext cx="1534269" cy="1905000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6075" y="2295376"/>
            <a:ext cx="113109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6075" y="2688878"/>
            <a:ext cx="1131097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8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it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6075" y="3123605"/>
            <a:ext cx="113109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being explained?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69170" y="2031950"/>
            <a:ext cx="1534120" cy="1905000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381845" y="2295376"/>
            <a:ext cx="1130945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81845" y="2688878"/>
            <a:ext cx="1130945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8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Justify it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381845" y="3123605"/>
            <a:ext cx="1130945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it matter?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04791" y="2031950"/>
            <a:ext cx="1534269" cy="1905000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017466" y="2295376"/>
            <a:ext cx="113109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17466" y="2688878"/>
            <a:ext cx="1131097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8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novelty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017466" y="3393281"/>
            <a:ext cx="113109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non-obvious?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40561" y="2031950"/>
            <a:ext cx="1534269" cy="1905000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653236" y="2295376"/>
            <a:ext cx="113109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53236" y="2688878"/>
            <a:ext cx="1131097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8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53236" y="3123605"/>
            <a:ext cx="113109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must be true?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76331" y="2031950"/>
            <a:ext cx="1534269" cy="1905000"/>
          </a:xfrm>
          <a:prstGeom prst="roundRect">
            <a:avLst>
              <a:gd name="adj" fmla="val 1656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289006" y="2295376"/>
            <a:ext cx="113109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FALSIFIER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89006" y="2688878"/>
            <a:ext cx="1131097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8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it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89006" y="3393281"/>
            <a:ext cx="113109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300"/>
              </a:spcBef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weaken it?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3400" y="4391323"/>
            <a:ext cx="8238744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candidates enter. One researcher-justified bet exits.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AND DISCLOSURE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0302"/>
            <a:ext cx="8238744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the argument, not just the presentation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3400" y="2271117"/>
            <a:ext cx="7746950" cy="0"/>
          </a:xfrm>
          <a:prstGeom prst="line">
            <a:avLst/>
          </a:prstGeom>
          <a:noFill/>
          <a:ln w="9525">
            <a:solidFill>
              <a:srgbClr val="CDD2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400" y="1780580"/>
            <a:ext cx="126950" cy="25301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2000" y="1742480"/>
            <a:ext cx="7565035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Machine Intelligence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2050256"/>
            <a:ext cx="7565035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exploration commentary · breadth-first and depth-first search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3400" y="2918817"/>
            <a:ext cx="7746950" cy="0"/>
          </a:xfrm>
          <a:prstGeom prst="line">
            <a:avLst/>
          </a:prstGeom>
          <a:noFill/>
          <a:ln w="9525">
            <a:solidFill>
              <a:srgbClr val="CDD2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3400" y="2428280"/>
            <a:ext cx="126950" cy="25301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2000" y="2390180"/>
            <a:ext cx="7565035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News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2697956"/>
            <a:ext cx="7565035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perspective · formulation, auditing, reproduction, and defense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3400" y="3566517"/>
            <a:ext cx="7746950" cy="0"/>
          </a:xfrm>
          <a:prstGeom prst="line">
            <a:avLst/>
          </a:prstGeom>
          <a:noFill/>
          <a:ln w="9525">
            <a:solidFill>
              <a:srgbClr val="CDD2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3400" y="3075980"/>
            <a:ext cx="126950" cy="25301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62000" y="3037880"/>
            <a:ext cx="7565035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Space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2000" y="3345656"/>
            <a:ext cx="7565035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Practitioner testimony · academia and high-risk research bets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3400" y="4214217"/>
            <a:ext cx="7746950" cy="0"/>
          </a:xfrm>
          <a:prstGeom prst="line">
            <a:avLst/>
          </a:prstGeom>
          <a:noFill/>
          <a:ln w="9525">
            <a:solidFill>
              <a:srgbClr val="CDD2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3400" y="3723680"/>
            <a:ext cx="126950" cy="25301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62000" y="3685580"/>
            <a:ext cx="7565035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Retraction Watch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2000" y="3993356"/>
            <a:ext cx="7565035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case · error propagation across dependent manuscripts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3400" y="4479429"/>
            <a:ext cx="8238744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URLs and timestamps appear in the YouTube description and linked article.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Scholar in the Loop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 AI to Expand the Search Space, Not Choose the Research Bet</dc:title>
  <dc:subject>Scholar in the Loop audience video visual deck</dc:subject>
  <dc:creator>Zhekai Li</dc:creator>
  <cp:lastModifiedBy>Zhekai Li</cp:lastModifiedBy>
  <cp:revision>1</cp:revision>
  <dcterms:created xsi:type="dcterms:W3CDTF">2026-10-11T02:56:49Z</dcterms:created>
  <dcterms:modified xsi:type="dcterms:W3CDTF">2026-10-11T02:56:49Z</dcterms:modified>
</cp:coreProperties>
</file>