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58701"/>
            <a:ext cx="5440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88802"/>
            <a:ext cx="5440680" cy="125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spcBef>
                <a:spcPts val="1400"/>
              </a:spcBef>
              <a:buNone/>
            </a:pPr>
            <a:r>
              <a:rPr lang="en-US" sz="31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to expand the search space—not choose the research bet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2368897"/>
            <a:ext cx="4987239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Bef>
                <a:spcPts val="1800"/>
              </a:spcBef>
              <a:buNone/>
            </a:pPr>
            <a:r>
              <a:rPr lang="en-US" sz="16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can broaden discovery. It cannot decide which problem deserves years of attention.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77000" y="0"/>
            <a:ext cx="2667000" cy="5143500"/>
          </a:xfrm>
          <a:prstGeom prst="roundRect">
            <a:avLst>
              <a:gd name="adj" fmla="val 4762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03927" y="1571476"/>
            <a:ext cx="431750" cy="431750"/>
          </a:xfrm>
          <a:prstGeom prst="roundRect">
            <a:avLst>
              <a:gd name="adj" fmla="val 211789"/>
            </a:avLst>
          </a:prstGeom>
          <a:solidFill>
            <a:srgbClr val="EAA9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1676" y="911126"/>
            <a:ext cx="355550" cy="355550"/>
          </a:xfrm>
          <a:prstGeom prst="roundRect">
            <a:avLst>
              <a:gd name="adj" fmla="val 257179"/>
            </a:avLst>
          </a:prstGeom>
          <a:noFill/>
          <a:ln w="19050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27827" y="1063526"/>
            <a:ext cx="304800" cy="304800"/>
          </a:xfrm>
          <a:prstGeom prst="roundRect">
            <a:avLst>
              <a:gd name="adj" fmla="val 300000"/>
            </a:avLst>
          </a:prstGeom>
          <a:noFill/>
          <a:ln w="19050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81676" y="2841575"/>
            <a:ext cx="279350" cy="279350"/>
          </a:xfrm>
          <a:prstGeom prst="roundRect">
            <a:avLst>
              <a:gd name="adj" fmla="val 327331"/>
            </a:avLst>
          </a:prstGeom>
          <a:noFill/>
          <a:ln w="19050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2526" y="2816275"/>
            <a:ext cx="406301" cy="406301"/>
          </a:xfrm>
          <a:prstGeom prst="roundRect">
            <a:avLst>
              <a:gd name="adj" fmla="val 225055"/>
            </a:avLst>
          </a:prstGeom>
          <a:noFill/>
          <a:ln w="19050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69992" y="1126927"/>
            <a:ext cx="71241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442" y="2600176"/>
            <a:ext cx="7124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82132" y="2333476"/>
            <a:ext cx="4532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16626" y="4091732"/>
            <a:ext cx="198774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6626" y="4248894"/>
            <a:ext cx="2027503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presentation</a:t>
            </a:r>
            <a:endParaRPr lang="en-US" sz="1100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reviewed by Zhekai Li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92675"/>
            <a:ext cx="4533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AUDIENCE VIDEO · 3–5 MINUTES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01 ·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33679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USEFUL ASYMMETRY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251"/>
            <a:ext cx="3367939" cy="1535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800"/>
              </a:spcBef>
              <a:buNone/>
            </a:pPr>
            <a:r>
              <a:rPr lang="en-US" sz="28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options faster than researchers can judge them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678757"/>
            <a:ext cx="3367939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Bef>
                <a:spcPts val="1800"/>
              </a:spcBef>
              <a:buNone/>
            </a:pPr>
            <a:r>
              <a:rPr lang="en-US" sz="16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the output as a candidate space—not a ranked answer set.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91000" y="990600"/>
            <a:ext cx="2438400" cy="304800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03675" y="1203275"/>
            <a:ext cx="2053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SPACE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03675" y="1561951"/>
            <a:ext cx="888950" cy="660350"/>
          </a:xfrm>
          <a:prstGeom prst="roundRect">
            <a:avLst>
              <a:gd name="adj" fmla="val 19232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43363" y="1787277"/>
            <a:ext cx="8095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94127" y="1561951"/>
            <a:ext cx="888950" cy="660350"/>
          </a:xfrm>
          <a:prstGeom prst="roundRect">
            <a:avLst>
              <a:gd name="adj" fmla="val 19232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33815" y="1787277"/>
            <a:ext cx="8095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03675" y="2323802"/>
            <a:ext cx="888950" cy="660350"/>
          </a:xfrm>
          <a:prstGeom prst="roundRect">
            <a:avLst>
              <a:gd name="adj" fmla="val 19232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43363" y="2549128"/>
            <a:ext cx="8095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94127" y="2323802"/>
            <a:ext cx="888950" cy="660350"/>
          </a:xfrm>
          <a:prstGeom prst="roundRect">
            <a:avLst>
              <a:gd name="adj" fmla="val 19232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33815" y="2549128"/>
            <a:ext cx="8095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03675" y="3085654"/>
            <a:ext cx="888950" cy="660350"/>
          </a:xfrm>
          <a:prstGeom prst="roundRect">
            <a:avLst>
              <a:gd name="adj" fmla="val 19232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443363" y="3310979"/>
            <a:ext cx="8095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94127" y="3085654"/>
            <a:ext cx="888950" cy="660350"/>
          </a:xfrm>
          <a:prstGeom prst="roundRect">
            <a:avLst>
              <a:gd name="adj" fmla="val 19232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33815" y="3310979"/>
            <a:ext cx="8095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81800" y="233675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787960" y="2419201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89750" y="1562100"/>
            <a:ext cx="1396901" cy="1905000"/>
          </a:xfrm>
          <a:prstGeom prst="roundRect">
            <a:avLst>
              <a:gd name="adj" fmla="val 9092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40945" y="1939826"/>
            <a:ext cx="10945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40945" y="2231827"/>
            <a:ext cx="109451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5"/>
              </a:lnSpc>
              <a:spcBef>
                <a:spcPts val="110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</a:t>
            </a:r>
            <a:endParaRPr lang="en-US" sz="1500" dirty="0"/>
          </a:p>
          <a:p>
            <a:pPr algn="ctr" indent="0" marL="0">
              <a:lnSpc>
                <a:spcPts val="1725"/>
              </a:lnSpc>
              <a:spcBef>
                <a:spcPts val="110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40945" y="2822377"/>
            <a:ext cx="109451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E8ED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and justify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01 ·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STAGED EXPLORATION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broadly. Then follow evidence deeply.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1625501"/>
            <a:ext cx="3429000" cy="24129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6075" y="1914376"/>
            <a:ext cx="29082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BREADTH FIRST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6075" y="2209651"/>
            <a:ext cx="290827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2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adjacent literatures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6075" y="3155752"/>
            <a:ext cx="850850" cy="609600"/>
          </a:xfrm>
          <a:prstGeom prst="roundRect">
            <a:avLst>
              <a:gd name="adj" fmla="val 12500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9048" y="3355777"/>
            <a:ext cx="7449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23876" y="3155752"/>
            <a:ext cx="850850" cy="609600"/>
          </a:xfrm>
          <a:prstGeom prst="roundRect">
            <a:avLst>
              <a:gd name="adj" fmla="val 12500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76849" y="3355777"/>
            <a:ext cx="7449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01677" y="3155752"/>
            <a:ext cx="850850" cy="609600"/>
          </a:xfrm>
          <a:prstGeom prst="roundRect">
            <a:avLst>
              <a:gd name="adj" fmla="val 12500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54649" y="3355777"/>
            <a:ext cx="7449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94150" y="265420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00310" y="273665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57800" y="1625501"/>
            <a:ext cx="3429000" cy="2412950"/>
          </a:xfrm>
          <a:prstGeom prst="roundRect">
            <a:avLst>
              <a:gd name="adj" fmla="val 4211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46675" y="1914376"/>
            <a:ext cx="29082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D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DEPTH FIRST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46675" y="2209651"/>
            <a:ext cx="290827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mechanisms &amp; citations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5546675" y="3130302"/>
            <a:ext cx="642640" cy="558701"/>
          </a:xfrm>
          <a:prstGeom prst="roundRect">
            <a:avLst>
              <a:gd name="adj" fmla="val 11366"/>
            </a:avLst>
          </a:prstGeom>
          <a:noFill/>
          <a:ln w="9525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88826" y="3304877"/>
            <a:ext cx="558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90816" y="3300115"/>
            <a:ext cx="19431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2817" y="3130302"/>
            <a:ext cx="646658" cy="558701"/>
          </a:xfrm>
          <a:prstGeom prst="roundRect">
            <a:avLst>
              <a:gd name="adj" fmla="val 11366"/>
            </a:avLst>
          </a:prstGeom>
          <a:noFill/>
          <a:ln w="19050">
            <a:solidFill>
              <a:srgbClr val="EAA94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34643" y="3314402"/>
            <a:ext cx="5430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30976" y="3300115"/>
            <a:ext cx="19431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22977" y="3130302"/>
            <a:ext cx="774948" cy="558701"/>
          </a:xfrm>
          <a:prstGeom prst="roundRect">
            <a:avLst>
              <a:gd name="adj" fmla="val 11366"/>
            </a:avLst>
          </a:prstGeom>
          <a:noFill/>
          <a:ln w="9525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663805" y="3304877"/>
            <a:ext cx="6932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446984"/>
            <a:ext cx="751326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 commentary · Exploration architecture, not proof of correctness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01 ·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BOUNDARY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responsibilities do not transfer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1714500"/>
            <a:ext cx="1943100" cy="2184350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5325" y="1952625"/>
            <a:ext cx="1496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5325" y="2470100"/>
            <a:ext cx="149618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0"/>
              </a:spcBef>
              <a:buNone/>
            </a:pPr>
            <a:r>
              <a:rPr lang="en-US" sz="22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5325" y="2946350"/>
            <a:ext cx="1496187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scientific 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52700" y="1714500"/>
            <a:ext cx="1943100" cy="2184350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90825" y="1952625"/>
            <a:ext cx="1496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90825" y="2470100"/>
            <a:ext cx="149618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0"/>
              </a:spcBef>
              <a:buNone/>
            </a:pPr>
            <a:r>
              <a:rPr lang="en-US" sz="22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90825" y="2946350"/>
            <a:ext cx="1496187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model outputs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8200" y="1714500"/>
            <a:ext cx="1943100" cy="2184350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86325" y="1952625"/>
            <a:ext cx="1496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86325" y="2470100"/>
            <a:ext cx="149618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0"/>
              </a:spcBef>
              <a:buNone/>
            </a:pPr>
            <a:r>
              <a:rPr lang="en-US" sz="22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86325" y="2946350"/>
            <a:ext cx="1496187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decisive results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43700" y="1714500"/>
            <a:ext cx="1943100" cy="2184350"/>
          </a:xfrm>
          <a:prstGeom prst="roundRect">
            <a:avLst>
              <a:gd name="adj" fmla="val 5229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81825" y="1952625"/>
            <a:ext cx="1496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81825" y="2470100"/>
            <a:ext cx="149618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0"/>
              </a:spcBef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81825" y="2946350"/>
            <a:ext cx="1496187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E8ED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every material choice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46984"/>
            <a:ext cx="738378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expert perspective · The researcher remains accountable for the intellectual commitment.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01 ·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34975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ORIGINALITY IS A JUDGMENT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251"/>
            <a:ext cx="3497580" cy="1535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800"/>
              </a:spcBef>
              <a:buNone/>
            </a:pPr>
            <a:r>
              <a:rPr lang="en-US" sz="28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patterns are not automatically important problems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678757"/>
            <a:ext cx="3497580" cy="78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Bef>
                <a:spcPts val="1800"/>
              </a:spcBef>
              <a:buNone/>
            </a:pPr>
            <a:r>
              <a:rPr lang="en-US" sz="16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neglected direction may be profound, infeasible—or merely unfashionable.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44901" y="914400"/>
            <a:ext cx="4191000" cy="3301901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08327" y="1177826"/>
            <a:ext cx="37374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PORTFOLIO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09976" y="3622625"/>
            <a:ext cx="3460849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60727" y="1787426"/>
            <a:ext cx="12650" cy="18478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98927" y="3860750"/>
            <a:ext cx="9548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FAMILIARITY 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8827" y="1571625"/>
            <a:ext cx="8226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CONVICTION ↑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43376" y="267652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8ED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121426" y="24224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D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14876" y="1914525"/>
            <a:ext cx="431750" cy="431750"/>
          </a:xfrm>
          <a:prstGeom prst="roundRect">
            <a:avLst>
              <a:gd name="adj" fmla="val 211789"/>
            </a:avLst>
          </a:prstGeom>
          <a:solidFill>
            <a:srgbClr val="EAA94B"/>
          </a:solidFill>
          <a:ln w="3810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49826" y="1533525"/>
            <a:ext cx="8203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BET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01 ·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VERIFICATION SCALES POORLY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local error can travel through a dependency graph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88950" y="2476351"/>
            <a:ext cx="1777901" cy="914400"/>
          </a:xfrm>
          <a:prstGeom prst="roundRect">
            <a:avLst>
              <a:gd name="adj" fmla="val 11111"/>
            </a:avLst>
          </a:prstGeom>
          <a:solidFill>
            <a:srgbClr val="F4D7D0"/>
          </a:solidFill>
          <a:ln w="19050">
            <a:solidFill>
              <a:srgbClr val="D86A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85701" y="2673102"/>
            <a:ext cx="14120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6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85701" y="2892177"/>
            <a:ext cx="1412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error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97101" y="274305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03261" y="282550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82901" y="1892201"/>
            <a:ext cx="1968401" cy="939701"/>
          </a:xfrm>
          <a:prstGeom prst="roundRect">
            <a:avLst>
              <a:gd name="adj" fmla="val 13515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70127" y="2079427"/>
            <a:ext cx="16258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MANUSCRIPT 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70127" y="2298502"/>
            <a:ext cx="162582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 invalidated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22950" y="1841450"/>
            <a:ext cx="1905000" cy="812750"/>
          </a:xfrm>
          <a:prstGeom prst="roundRect">
            <a:avLst>
              <a:gd name="adj" fmla="val 15626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97526" y="2016026"/>
            <a:ext cx="15869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97526" y="2222302"/>
            <a:ext cx="158696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affected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22950" y="3009751"/>
            <a:ext cx="1905000" cy="812750"/>
          </a:xfrm>
          <a:prstGeom prst="roundRect">
            <a:avLst>
              <a:gd name="adj" fmla="val 15626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97526" y="3184327"/>
            <a:ext cx="15869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97526" y="3390602"/>
            <a:ext cx="158696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affected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16501" y="223510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22661" y="231755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16501" y="307330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822661" y="315575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↘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4446984"/>
            <a:ext cx="751326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 report · Illustrates propagation, not a general failure rate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01 ·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GATE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committing, answer five questions in your own words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1676400"/>
            <a:ext cx="1562100" cy="2031950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9125" y="1876425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9125" y="2282726"/>
            <a:ext cx="12630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6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9125" y="2660452"/>
            <a:ext cx="1263015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1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exactly is being explained?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20801" y="1676400"/>
            <a:ext cx="1562100" cy="2031950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82726" y="1876425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2726" y="2282726"/>
            <a:ext cx="12630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6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82726" y="2660452"/>
            <a:ext cx="1263015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1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it matter?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84402" y="1676400"/>
            <a:ext cx="1562100" cy="2031950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46327" y="1876425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46327" y="2282726"/>
            <a:ext cx="12630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6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46327" y="2660452"/>
            <a:ext cx="1263015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1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non-obvious?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48002" y="1676400"/>
            <a:ext cx="1562100" cy="2031950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09927" y="1876425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09927" y="2282726"/>
            <a:ext cx="12630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6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09927" y="2660452"/>
            <a:ext cx="1263015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1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be true?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11603" y="1676400"/>
            <a:ext cx="1562100" cy="2031950"/>
          </a:xfrm>
          <a:prstGeom prst="roundRect">
            <a:avLst>
              <a:gd name="adj" fmla="val 8130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73528" y="1876425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73528" y="2282726"/>
            <a:ext cx="12630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Falsifier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73528" y="2660452"/>
            <a:ext cx="1263015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100"/>
              </a:spcBef>
              <a:buNone/>
            </a:pPr>
            <a:r>
              <a:rPr lang="en-US" sz="1000" dirty="0">
                <a:solidFill>
                  <a:srgbClr val="E8ED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weaken it?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435525"/>
            <a:ext cx="79018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candidates enter → one provisional, researcher-justified bet exits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01 ·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DISCLOSURE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argument, not just the presentation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514326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0600" y="2034480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0600" y="1514326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0600" y="1739652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exploration commentary · breadth-first and depth-first search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53543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90600" y="2673697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" y="2153543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News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0600" y="2378869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perspective · formulation, auditing, reproduction, and defense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792760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90600" y="3312914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600" y="2792760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Space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0600" y="3018086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testimony · academia and high-risk research bets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431977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0600" y="3952131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0600" y="3431977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0600" y="3657302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case · error propagation across dependent manuscripts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72434"/>
            <a:ext cx="647689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URLs and timestamps appear in the YouTube description and linked article.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Scholar in the Loop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AI to Expand the Search Space, Not Choose the Research Bet</dc:title>
  <dc:subject>Scholar in the Loop audience video visual deck</dc:subject>
  <dc:creator>Zhekai Li</dc:creator>
  <cp:lastModifiedBy>Zhekai Li</cp:lastModifiedBy>
  <cp:revision>1</cp:revision>
  <dcterms:created xsi:type="dcterms:W3CDTF">2026-10-10T19:22:20Z</dcterms:created>
  <dcterms:modified xsi:type="dcterms:W3CDTF">2026-10-10T19:22:20Z</dcterms:modified>
</cp:coreProperties>
</file>