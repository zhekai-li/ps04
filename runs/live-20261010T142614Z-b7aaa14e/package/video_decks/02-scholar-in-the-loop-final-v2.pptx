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84150"/>
            <a:ext cx="5570169" cy="160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5"/>
              </a:lnSpc>
              <a:buNone/>
            </a:pPr>
            <a:r>
              <a:rPr lang="en-US" sz="1100" b="1" dirty="0">
                <a:solidFill>
                  <a:srgbClr val="0F7C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DISCIPLINE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922437"/>
            <a:ext cx="5570169" cy="7679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24"/>
              </a:lnSpc>
              <a:spcBef>
                <a:spcPts val="1400"/>
              </a:spcBef>
              <a:buNone/>
            </a:pPr>
            <a:r>
              <a:rPr lang="en-US" sz="2800" b="1" dirty="0">
                <a:solidFill>
                  <a:srgbClr val="10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Fluent reasoning is not provenance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931640"/>
            <a:ext cx="5116729" cy="5393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4"/>
              </a:lnSpc>
              <a:spcBef>
                <a:spcPts val="1900"/>
              </a:spcBef>
              <a:buNone/>
            </a:pPr>
            <a:r>
              <a:rPr lang="en-US" sz="1800" dirty="0">
                <a:solidFill>
                  <a:srgbClr val="60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polished answer can be readable, traceable, and still wrong. Build a verification layer.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77000" y="0"/>
            <a:ext cx="2667000" cy="5143500"/>
          </a:xfrm>
          <a:prstGeom prst="rect">
            <a:avLst/>
          </a:prstGeom>
          <a:solidFill>
            <a:srgbClr val="153A52"/>
          </a:solidFill>
          <a:ln w="9525">
            <a:solidFill>
              <a:srgbClr val="153A5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6816626" y="585788"/>
            <a:ext cx="2006501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16626" y="3541514"/>
            <a:ext cx="2006501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16626" y="1322338"/>
            <a:ext cx="2006501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81676" y="679400"/>
            <a:ext cx="1709928" cy="160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5"/>
              </a:lnSpc>
              <a:buNone/>
            </a:pPr>
            <a:r>
              <a:rPr lang="en-US" sz="1100" b="1" dirty="0">
                <a:solidFill>
                  <a:srgbClr val="E1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FLUENT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981676" y="878086"/>
            <a:ext cx="1709928" cy="2696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4"/>
              </a:lnSpc>
              <a:spcBef>
                <a:spcPts val="300"/>
              </a:spcBef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Readable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816626" y="2058888"/>
            <a:ext cx="2006501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81676" y="1415951"/>
            <a:ext cx="1709928" cy="160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5"/>
              </a:lnSpc>
              <a:buNone/>
            </a:pPr>
            <a:r>
              <a:rPr lang="en-US" sz="1100" b="1" dirty="0">
                <a:solidFill>
                  <a:srgbClr val="E1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TRACEABLE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981676" y="1614636"/>
            <a:ext cx="1709928" cy="2696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4"/>
              </a:lnSpc>
              <a:spcBef>
                <a:spcPts val="300"/>
              </a:spcBef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located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816626" y="2795439"/>
            <a:ext cx="2006501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81676" y="2152501"/>
            <a:ext cx="1709928" cy="160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5"/>
              </a:lnSpc>
              <a:buNone/>
            </a:pPr>
            <a:r>
              <a:rPr lang="en-US" sz="1100" b="1" dirty="0">
                <a:solidFill>
                  <a:srgbClr val="E1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981676" y="2351187"/>
            <a:ext cx="1709928" cy="2696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4"/>
              </a:lnSpc>
              <a:spcBef>
                <a:spcPts val="300"/>
              </a:spcBef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Supported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981676" y="2889052"/>
            <a:ext cx="1709928" cy="160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5"/>
              </a:lnSpc>
              <a:buNone/>
            </a:pPr>
            <a:r>
              <a:rPr lang="en-US" sz="1100" b="1" dirty="0">
                <a:solidFill>
                  <a:srgbClr val="E8A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981676" y="3087737"/>
            <a:ext cx="1709928" cy="2696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4"/>
              </a:lnSpc>
              <a:spcBef>
                <a:spcPts val="300"/>
              </a:spcBef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 owns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816626" y="4427934"/>
            <a:ext cx="2027503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E9EE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AI-assisted presentation</a:t>
            </a:r>
            <a:endParaRPr lang="en-US" sz="1100" dirty="0"/>
          </a:p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E9EE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reviewed by Zhekai Li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551164"/>
            <a:ext cx="4533799" cy="160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5"/>
              </a:lnSpc>
              <a:buNone/>
            </a:pPr>
            <a:r>
              <a:rPr lang="en-US" sz="1100" b="1" dirty="0">
                <a:solidFill>
                  <a:srgbClr val="0F7C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AUDIENCE VIDEO · 3–5 MINUTES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3238449" cy="184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2"/>
              </a:lnSpc>
              <a:buNone/>
            </a:pPr>
            <a:r>
              <a:rPr lang="en-US" sz="1100" b="1" dirty="0">
                <a:solidFill>
                  <a:srgbClr val="0F7C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SCHOLAR IN THE LOOP · VIDEO 02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132320" y="126950"/>
            <a:ext cx="1554480" cy="184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60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08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355550"/>
            <a:ext cx="8229600" cy="12650"/>
          </a:xfrm>
          <a:prstGeom prst="rect">
            <a:avLst/>
          </a:prstGeom>
          <a:solidFill>
            <a:srgbClr val="C6D0D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7200" y="609600"/>
            <a:ext cx="8394192" cy="160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5"/>
              </a:lnSpc>
              <a:buNone/>
            </a:pPr>
            <a:r>
              <a:rPr lang="en-US" sz="1100" b="1" dirty="0">
                <a:solidFill>
                  <a:srgbClr val="0F7C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DIFFERENT QUESTIONS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859036"/>
            <a:ext cx="8394192" cy="7679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24"/>
              </a:lnSpc>
              <a:spcBef>
                <a:spcPts val="700"/>
              </a:spcBef>
              <a:buNone/>
            </a:pPr>
            <a:r>
              <a:rPr lang="en-US" sz="2800" b="1" dirty="0">
                <a:solidFill>
                  <a:srgbClr val="10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not collapse fluency, provenance, and verification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1739801"/>
            <a:ext cx="2641550" cy="2082701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 w="9525">
            <a:solidFill>
              <a:srgbClr val="C6D0D6"/>
            </a:solidFill>
          </a:ln>
          <a:effectLst>
            <a:outerShdw sx="100000" sy="100000" kx="0" ky="0" algn="bl" rotWithShape="0" blurRad="63500" dist="25400" dir="5400000">
              <a:srgbClr val="10263f">
                <a:alpha val="7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95325" y="1977926"/>
            <a:ext cx="2208606" cy="160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5"/>
              </a:lnSpc>
              <a:buNone/>
            </a:pPr>
            <a:r>
              <a:rPr lang="en-US" sz="1100" b="1" dirty="0">
                <a:solidFill>
                  <a:srgbClr val="0F7C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FLUENCY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95325" y="2405211"/>
            <a:ext cx="2208606" cy="5393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4"/>
              </a:lnSpc>
              <a:spcBef>
                <a:spcPts val="2100"/>
              </a:spcBef>
              <a:buNone/>
            </a:pPr>
            <a:r>
              <a:rPr lang="en-US" sz="1800" b="1" dirty="0">
                <a:solidFill>
                  <a:srgbClr val="10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I follow the explanation?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95325" y="3122265"/>
            <a:ext cx="2208606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Bef>
                <a:spcPts val="1400"/>
              </a:spcBef>
              <a:buNone/>
            </a:pPr>
            <a:r>
              <a:rPr lang="en-US" sz="1100" dirty="0">
                <a:solidFill>
                  <a:srgbClr val="60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Readable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51150" y="1739801"/>
            <a:ext cx="2641550" cy="2082701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 w="9525">
            <a:solidFill>
              <a:srgbClr val="C6D0D6"/>
            </a:solidFill>
          </a:ln>
          <a:effectLst>
            <a:outerShdw sx="100000" sy="100000" kx="0" ky="0" algn="bl" rotWithShape="0" blurRad="63500" dist="25400" dir="5400000">
              <a:srgbClr val="10263f">
                <a:alpha val="7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489275" y="1977926"/>
            <a:ext cx="2208606" cy="160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5"/>
              </a:lnSpc>
              <a:buNone/>
            </a:pPr>
            <a:r>
              <a:rPr lang="en-US" sz="1100" b="1" dirty="0">
                <a:solidFill>
                  <a:srgbClr val="0F7C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PROVENANCE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489275" y="2405211"/>
            <a:ext cx="2208606" cy="5393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4"/>
              </a:lnSpc>
              <a:spcBef>
                <a:spcPts val="2100"/>
              </a:spcBef>
              <a:buNone/>
            </a:pPr>
            <a:r>
              <a:rPr lang="en-US" sz="1800" b="1" dirty="0">
                <a:solidFill>
                  <a:srgbClr val="10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I locate the source?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489275" y="3122265"/>
            <a:ext cx="2208606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Bef>
                <a:spcPts val="1400"/>
              </a:spcBef>
              <a:buNone/>
            </a:pPr>
            <a:r>
              <a:rPr lang="en-US" sz="1100" dirty="0">
                <a:solidFill>
                  <a:srgbClr val="60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Traceable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045101" y="1739801"/>
            <a:ext cx="2641550" cy="2082701"/>
          </a:xfrm>
          <a:prstGeom prst="roundRect">
            <a:avLst>
              <a:gd name="adj" fmla="val 3659"/>
            </a:avLst>
          </a:prstGeom>
          <a:solidFill>
            <a:srgbClr val="153A52"/>
          </a:solidFill>
          <a:ln w="9525">
            <a:solidFill>
              <a:srgbClr val="153A5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283226" y="1977926"/>
            <a:ext cx="2208606" cy="160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5"/>
              </a:lnSpc>
              <a:buNone/>
            </a:pPr>
            <a:r>
              <a:rPr lang="en-US" sz="1100" b="1" dirty="0">
                <a:solidFill>
                  <a:srgbClr val="E8A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83226" y="2405211"/>
            <a:ext cx="2208606" cy="5393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4"/>
              </a:lnSpc>
              <a:spcBef>
                <a:spcPts val="2100"/>
              </a:spcBef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the evidence support the claim?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283226" y="3122265"/>
            <a:ext cx="2208606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Bef>
                <a:spcPts val="1400"/>
              </a:spcBef>
              <a:buNone/>
            </a:pPr>
            <a:r>
              <a:rPr lang="en-US" sz="1100" dirty="0">
                <a:solidFill>
                  <a:srgbClr val="E9EE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Defensible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4479429"/>
            <a:ext cx="8096199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60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layer helps. Only verification earns evidentiary credit.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3238449" cy="184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2"/>
              </a:lnSpc>
              <a:buNone/>
            </a:pPr>
            <a:r>
              <a:rPr lang="en-US" sz="1100" b="1" dirty="0">
                <a:solidFill>
                  <a:srgbClr val="0F7C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SCHOLAR IN THE LOOP · VIDEO 02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132320" y="126950"/>
            <a:ext cx="1554480" cy="184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60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08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355550"/>
            <a:ext cx="8229600" cy="12650"/>
          </a:xfrm>
          <a:prstGeom prst="rect">
            <a:avLst/>
          </a:prstGeom>
          <a:solidFill>
            <a:srgbClr val="C6D0D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7200" y="609600"/>
            <a:ext cx="8394192" cy="160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5"/>
              </a:lnSpc>
              <a:buNone/>
            </a:pPr>
            <a:r>
              <a:rPr lang="en-US" sz="1100" b="1" dirty="0">
                <a:solidFill>
                  <a:srgbClr val="0F7C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REASONING TOKENS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859036"/>
            <a:ext cx="8394192" cy="3839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24"/>
              </a:lnSpc>
              <a:spcBef>
                <a:spcPts val="700"/>
              </a:spcBef>
              <a:buNone/>
            </a:pPr>
            <a:r>
              <a:rPr lang="en-US" sz="2800" b="1" dirty="0">
                <a:solidFill>
                  <a:srgbClr val="10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Contribution is not faithful explanation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87301" y="1892201"/>
            <a:ext cx="1955750" cy="1219200"/>
          </a:xfrm>
          <a:prstGeom prst="roundRect">
            <a:avLst>
              <a:gd name="adj" fmla="val 6250"/>
            </a:avLst>
          </a:prstGeom>
          <a:solidFill>
            <a:srgbClr val="E1F2EE"/>
          </a:solidFill>
          <a:ln w="9525">
            <a:solidFill>
              <a:srgbClr val="B7DCD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010631" y="2130326"/>
            <a:ext cx="1509090" cy="160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5"/>
              </a:lnSpc>
              <a:buNone/>
            </a:pPr>
            <a:r>
              <a:rPr lang="en-US" sz="1100" b="1" dirty="0">
                <a:solidFill>
                  <a:srgbClr val="0F7C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10631" y="2455962"/>
            <a:ext cx="1509090" cy="5393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24"/>
              </a:lnSpc>
              <a:spcBef>
                <a:spcPts val="1300"/>
              </a:spcBef>
              <a:buNone/>
            </a:pPr>
            <a:r>
              <a:rPr lang="en-US" sz="1800" b="1" dirty="0">
                <a:solidFill>
                  <a:srgbClr val="10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Reasoning tokens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916434" y="2323951"/>
            <a:ext cx="440385" cy="355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800" dirty="0">
                <a:solidFill>
                  <a:srgbClr val="0F7C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530203" y="1892201"/>
            <a:ext cx="1955750" cy="1219200"/>
          </a:xfrm>
          <a:prstGeom prst="roundRect">
            <a:avLst>
              <a:gd name="adj" fmla="val 6250"/>
            </a:avLst>
          </a:prstGeom>
          <a:solidFill>
            <a:srgbClr val="153A52"/>
          </a:solidFill>
          <a:ln w="9525">
            <a:solidFill>
              <a:srgbClr val="153A5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753533" y="2346127"/>
            <a:ext cx="1509090" cy="2696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24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659337" y="2323951"/>
            <a:ext cx="440385" cy="355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800" dirty="0">
                <a:solidFill>
                  <a:srgbClr val="0F7C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273105" y="1892201"/>
            <a:ext cx="1955750" cy="1219200"/>
          </a:xfrm>
          <a:prstGeom prst="roundRect">
            <a:avLst>
              <a:gd name="adj" fmla="val 6250"/>
            </a:avLst>
          </a:prstGeom>
          <a:solidFill>
            <a:srgbClr val="F8EBCF"/>
          </a:solidFill>
          <a:ln w="9525">
            <a:solidFill>
              <a:srgbClr val="E7CC9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496435" y="2346127"/>
            <a:ext cx="1509090" cy="2696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24"/>
              </a:lnSpc>
              <a:buNone/>
            </a:pPr>
            <a:r>
              <a:rPr lang="en-US" sz="1800" b="1" dirty="0">
                <a:solidFill>
                  <a:srgbClr val="10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260550" y="3517850"/>
            <a:ext cx="4622750" cy="736550"/>
          </a:xfrm>
          <a:prstGeom prst="roundRect">
            <a:avLst>
              <a:gd name="adj" fmla="val 10346"/>
            </a:avLst>
          </a:prstGeom>
          <a:solidFill>
            <a:srgbClr val="FFFFFF"/>
          </a:solidFill>
          <a:ln w="9525">
            <a:solidFill>
              <a:srgbClr val="C6D0D6"/>
            </a:solidFill>
          </a:ln>
          <a:effectLst>
            <a:outerShdw sx="100000" sy="100000" kx="0" ky="0" algn="bl" rotWithShape="0" blurRad="63500" dist="25400" dir="5400000">
              <a:srgbClr val="10263f">
                <a:alpha val="7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2457210" y="3692426"/>
            <a:ext cx="4229430" cy="5393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24"/>
              </a:lnSpc>
              <a:buNone/>
            </a:pPr>
            <a:r>
              <a:rPr lang="en-US" sz="1800" b="1" dirty="0">
                <a:solidFill>
                  <a:srgbClr val="D76A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Coherence does not prove faithful explanation.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57200" y="4479429"/>
            <a:ext cx="8096199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60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Nature Machine Intelligence Perspective · conceptual analysis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3238449" cy="184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2"/>
              </a:lnSpc>
              <a:buNone/>
            </a:pPr>
            <a:r>
              <a:rPr lang="en-US" sz="1100" b="1" dirty="0">
                <a:solidFill>
                  <a:srgbClr val="0F7C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SCHOLAR IN THE LOOP · VIDEO 02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132320" y="126950"/>
            <a:ext cx="1554480" cy="184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60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08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355550"/>
            <a:ext cx="8229600" cy="12650"/>
          </a:xfrm>
          <a:prstGeom prst="rect">
            <a:avLst/>
          </a:prstGeom>
          <a:solidFill>
            <a:srgbClr val="C6D0D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7200" y="609600"/>
            <a:ext cx="8394192" cy="160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5"/>
              </a:lnSpc>
              <a:buNone/>
            </a:pPr>
            <a:r>
              <a:rPr lang="en-US" sz="1100" b="1" dirty="0">
                <a:solidFill>
                  <a:srgbClr val="0F7C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SEPARATE CHECKS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859036"/>
            <a:ext cx="8394192" cy="3839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24"/>
              </a:lnSpc>
              <a:spcBef>
                <a:spcPts val="700"/>
              </a:spcBef>
              <a:buNone/>
            </a:pPr>
            <a:r>
              <a:rPr lang="en-US" sz="2800" b="1" dirty="0">
                <a:solidFill>
                  <a:srgbClr val="10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located source is not yet supporting evidence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39701" y="1930301"/>
            <a:ext cx="2448074" cy="167640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9525">
            <a:solidFill>
              <a:srgbClr val="C6D0D6"/>
            </a:solidFill>
          </a:ln>
          <a:effectLst>
            <a:outerShdw sx="100000" sy="100000" kx="0" ky="0" algn="bl" rotWithShape="0" blurRad="63500" dist="25400" dir="5400000">
              <a:srgbClr val="10263f">
                <a:alpha val="7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203127" y="2193727"/>
            <a:ext cx="1959647" cy="160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5"/>
              </a:lnSpc>
              <a:buNone/>
            </a:pPr>
            <a:r>
              <a:rPr lang="en-US" sz="1100" b="1" dirty="0">
                <a:solidFill>
                  <a:srgbClr val="0F7C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203127" y="2544812"/>
            <a:ext cx="1959647" cy="809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4"/>
              </a:lnSpc>
              <a:spcBef>
                <a:spcPts val="1500"/>
              </a:spcBef>
              <a:buNone/>
            </a:pPr>
            <a:r>
              <a:rPr lang="en-US" sz="1800" b="1" dirty="0">
                <a:solidFill>
                  <a:srgbClr val="10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“The method improves reliability.”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612091" y="2590800"/>
            <a:ext cx="436894" cy="355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800" dirty="0">
                <a:solidFill>
                  <a:srgbClr val="0F7C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273302" y="1930301"/>
            <a:ext cx="3930700" cy="736550"/>
          </a:xfrm>
          <a:prstGeom prst="roundRect">
            <a:avLst>
              <a:gd name="adj" fmla="val 10346"/>
            </a:avLst>
          </a:prstGeom>
          <a:solidFill>
            <a:srgbClr val="E1F2EE"/>
          </a:solidFill>
          <a:ln w="9525">
            <a:solidFill>
              <a:srgbClr val="B7DCD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524077" y="2155627"/>
            <a:ext cx="3497732" cy="2696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4"/>
              </a:lnSpc>
              <a:buNone/>
            </a:pPr>
            <a:r>
              <a:rPr lang="en-US" sz="1800" b="1" dirty="0">
                <a:solidFill>
                  <a:srgbClr val="10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located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273302" y="2870002"/>
            <a:ext cx="3930700" cy="736550"/>
          </a:xfrm>
          <a:prstGeom prst="roundRect">
            <a:avLst>
              <a:gd name="adj" fmla="val 10346"/>
            </a:avLst>
          </a:prstGeom>
          <a:solidFill>
            <a:srgbClr val="F6DFDA"/>
          </a:solidFill>
          <a:ln w="9525">
            <a:solidFill>
              <a:srgbClr val="E4B0A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524077" y="3095327"/>
            <a:ext cx="3497732" cy="2696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4"/>
              </a:lnSpc>
              <a:buNone/>
            </a:pPr>
            <a:r>
              <a:rPr lang="en-US" sz="1800" b="1" dirty="0">
                <a:solidFill>
                  <a:srgbClr val="10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 support still untested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57200" y="4479429"/>
            <a:ext cx="8096199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60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method, context, qualifications, and scope, not just the URL.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3238449" cy="184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2"/>
              </a:lnSpc>
              <a:buNone/>
            </a:pPr>
            <a:r>
              <a:rPr lang="en-US" sz="1100" b="1" dirty="0">
                <a:solidFill>
                  <a:srgbClr val="0F7C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SCHOLAR IN THE LOOP · VIDEO 02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132320" y="126950"/>
            <a:ext cx="1554480" cy="184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60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08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355550"/>
            <a:ext cx="8229600" cy="12650"/>
          </a:xfrm>
          <a:prstGeom prst="rect">
            <a:avLst/>
          </a:prstGeom>
          <a:solidFill>
            <a:srgbClr val="C6D0D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7200" y="609600"/>
            <a:ext cx="8394192" cy="160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5"/>
              </a:lnSpc>
              <a:buNone/>
            </a:pPr>
            <a:r>
              <a:rPr lang="en-US" sz="1100" b="1" dirty="0">
                <a:solidFill>
                  <a:srgbClr val="0F7C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DEPENDENCY TRACING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859036"/>
            <a:ext cx="8394192" cy="3839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24"/>
              </a:lnSpc>
              <a:spcBef>
                <a:spcPts val="700"/>
              </a:spcBef>
              <a:buNone/>
            </a:pPr>
            <a:r>
              <a:rPr lang="en-US" sz="2800" b="1" dirty="0">
                <a:solidFill>
                  <a:srgbClr val="10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 must travel upstream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34901" y="2095500"/>
            <a:ext cx="2032546" cy="1371600"/>
          </a:xfrm>
          <a:prstGeom prst="roundRect">
            <a:avLst>
              <a:gd name="adj" fmla="val 5556"/>
            </a:avLst>
          </a:prstGeom>
          <a:solidFill>
            <a:srgbClr val="F6DFDA"/>
          </a:solidFill>
          <a:ln w="9525">
            <a:solidFill>
              <a:srgbClr val="E4B0A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73026" y="2333625"/>
            <a:ext cx="1587422" cy="160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5"/>
              </a:lnSpc>
              <a:buNone/>
            </a:pPr>
            <a:r>
              <a:rPr lang="en-US" sz="1100" b="1" dirty="0">
                <a:solidFill>
                  <a:srgbClr val="D76A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· UNVERIFIED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73026" y="2671911"/>
            <a:ext cx="1587422" cy="5393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4"/>
              </a:lnSpc>
              <a:spcBef>
                <a:spcPts val="1400"/>
              </a:spcBef>
              <a:buNone/>
            </a:pPr>
            <a:r>
              <a:rPr lang="en-US" sz="1800" b="1" dirty="0">
                <a:solidFill>
                  <a:srgbClr val="10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Foundational result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841031" y="2603450"/>
            <a:ext cx="419892" cy="355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800" dirty="0">
                <a:solidFill>
                  <a:srgbClr val="0F7C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434507" y="2095500"/>
            <a:ext cx="2153543" cy="1371600"/>
          </a:xfrm>
          <a:prstGeom prst="roundRect">
            <a:avLst>
              <a:gd name="adj" fmla="val 5556"/>
            </a:avLst>
          </a:prstGeom>
          <a:solidFill>
            <a:srgbClr val="F8EBCF"/>
          </a:solidFill>
          <a:ln w="9525">
            <a:solidFill>
              <a:srgbClr val="E7CC9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672632" y="2333625"/>
            <a:ext cx="1710839" cy="3211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5"/>
              </a:lnSpc>
              <a:buNone/>
            </a:pPr>
            <a:r>
              <a:rPr lang="en-US" sz="1100" b="1" dirty="0">
                <a:solidFill>
                  <a:srgbClr val="0F7C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· SOURCE CHECKED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72632" y="2832497"/>
            <a:ext cx="1710839" cy="5393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4"/>
              </a:lnSpc>
              <a:spcBef>
                <a:spcPts val="1400"/>
              </a:spcBef>
              <a:buNone/>
            </a:pPr>
            <a:r>
              <a:rPr lang="en-US" sz="1800" b="1" dirty="0">
                <a:solidFill>
                  <a:srgbClr val="10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Derived construction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761632" y="2603450"/>
            <a:ext cx="420044" cy="355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800" dirty="0">
                <a:solidFill>
                  <a:srgbClr val="0F7C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355259" y="2006650"/>
            <a:ext cx="2153543" cy="1549301"/>
          </a:xfrm>
          <a:prstGeom prst="roundRect">
            <a:avLst>
              <a:gd name="adj" fmla="val 4918"/>
            </a:avLst>
          </a:prstGeom>
          <a:solidFill>
            <a:srgbClr val="153A52"/>
          </a:solidFill>
          <a:ln w="9525">
            <a:solidFill>
              <a:srgbClr val="153A5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593384" y="2244775"/>
            <a:ext cx="1710839" cy="160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5"/>
              </a:lnSpc>
              <a:buNone/>
            </a:pPr>
            <a:r>
              <a:rPr lang="en-US" sz="1100" b="1" dirty="0">
                <a:solidFill>
                  <a:srgbClr val="E1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DEPENDENT CLAIMS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593384" y="2557760"/>
            <a:ext cx="1710839" cy="5393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4"/>
              </a:lnSpc>
              <a:spcBef>
                <a:spcPts val="1200"/>
              </a:spcBef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reproduced</a:t>
            </a:r>
            <a:endParaRPr lang="en-US" sz="1800" dirty="0"/>
          </a:p>
          <a:p>
            <a:pPr algn="l" indent="0" marL="0">
              <a:lnSpc>
                <a:spcPts val="2124"/>
              </a:lnSpc>
              <a:spcBef>
                <a:spcPts val="1200"/>
              </a:spcBef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unverified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57200" y="4479429"/>
            <a:ext cx="8096199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60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Retraction Watch report · one sign error affected three dependent manuscripts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3238449" cy="184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2"/>
              </a:lnSpc>
              <a:buNone/>
            </a:pPr>
            <a:r>
              <a:rPr lang="en-US" sz="1100" b="1" dirty="0">
                <a:solidFill>
                  <a:srgbClr val="0F7C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SCHOLAR IN THE LOOP · VIDEO 02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132320" y="126950"/>
            <a:ext cx="1554480" cy="184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60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08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355550"/>
            <a:ext cx="8229600" cy="12650"/>
          </a:xfrm>
          <a:prstGeom prst="rect">
            <a:avLst/>
          </a:prstGeom>
          <a:solidFill>
            <a:srgbClr val="C6D0D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7200" y="609600"/>
            <a:ext cx="8394192" cy="160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5"/>
              </a:lnSpc>
              <a:buNone/>
            </a:pPr>
            <a:r>
              <a:rPr lang="en-US" sz="1100" b="1" dirty="0">
                <a:solidFill>
                  <a:srgbClr val="0F7C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CALIBRATION BEFORE TRUST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859036"/>
            <a:ext cx="8394192" cy="3839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24"/>
              </a:lnSpc>
              <a:spcBef>
                <a:spcPts val="700"/>
              </a:spcBef>
              <a:buNone/>
            </a:pPr>
            <a:r>
              <a:rPr lang="en-US" sz="2800" b="1" dirty="0">
                <a:solidFill>
                  <a:srgbClr val="10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 should predict observed behavior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1676400"/>
            <a:ext cx="5156150" cy="2260550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9525">
            <a:solidFill>
              <a:srgbClr val="C6D0D6"/>
            </a:solidFill>
          </a:ln>
          <a:effectLst>
            <a:outerShdw sx="100000" sy="100000" kx="0" ky="0" algn="bl" rotWithShape="0" blurRad="63500" dist="25400" dir="5400000">
              <a:srgbClr val="10263f">
                <a:alpha val="7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8" name="Image 0" descr="/Users/zhekaili/Documents/1125/Lesson09/production/video_decks/assets/calibration-pl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8226" y="1787426"/>
            <a:ext cx="4953000" cy="20574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816650" y="1676400"/>
            <a:ext cx="2870150" cy="1015901"/>
          </a:xfrm>
          <a:prstGeom prst="roundRect">
            <a:avLst>
              <a:gd name="adj" fmla="val 7501"/>
            </a:avLst>
          </a:prstGeom>
          <a:solidFill>
            <a:srgbClr val="E1F2EE"/>
          </a:solidFill>
          <a:ln w="9525">
            <a:solidFill>
              <a:srgbClr val="B7DCD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6041975" y="1901726"/>
            <a:ext cx="2467889" cy="160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5"/>
              </a:lnSpc>
              <a:buNone/>
            </a:pPr>
            <a:r>
              <a:rPr lang="en-US" sz="1100" b="1" dirty="0">
                <a:solidFill>
                  <a:srgbClr val="0F7C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041975" y="2189262"/>
            <a:ext cx="2467889" cy="2696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4"/>
              </a:lnSpc>
              <a:spcBef>
                <a:spcPts val="1000"/>
              </a:spcBef>
              <a:buNone/>
            </a:pPr>
            <a:r>
              <a:rPr lang="en-US" sz="1800" b="1" dirty="0">
                <a:solidFill>
                  <a:srgbClr val="10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 and claims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5816650" y="2870002"/>
            <a:ext cx="2870150" cy="1066800"/>
          </a:xfrm>
          <a:prstGeom prst="roundRect">
            <a:avLst>
              <a:gd name="adj" fmla="val 7143"/>
            </a:avLst>
          </a:prstGeom>
          <a:solidFill>
            <a:srgbClr val="153A52"/>
          </a:solidFill>
          <a:ln w="9525">
            <a:solidFill>
              <a:srgbClr val="153A5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6041975" y="3095327"/>
            <a:ext cx="2467889" cy="160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5"/>
              </a:lnSpc>
              <a:buNone/>
            </a:pPr>
            <a:r>
              <a:rPr lang="en-US" sz="1100" b="1" dirty="0">
                <a:solidFill>
                  <a:srgbClr val="E8A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CHARACTERIZE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041975" y="3382863"/>
            <a:ext cx="2467889" cy="2696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4"/>
              </a:lnSpc>
              <a:spcBef>
                <a:spcPts val="1000"/>
              </a:spcBef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Limits and failures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3238449" cy="184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2"/>
              </a:lnSpc>
              <a:buNone/>
            </a:pPr>
            <a:r>
              <a:rPr lang="en-US" sz="1100" b="1" dirty="0">
                <a:solidFill>
                  <a:srgbClr val="0F7C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SCHOLAR IN THE LOOP · VIDEO 02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132320" y="126950"/>
            <a:ext cx="1554480" cy="184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60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08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355550"/>
            <a:ext cx="8229600" cy="12650"/>
          </a:xfrm>
          <a:prstGeom prst="rect">
            <a:avLst/>
          </a:prstGeom>
          <a:solidFill>
            <a:srgbClr val="C6D0D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7200" y="609600"/>
            <a:ext cx="8394192" cy="160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5"/>
              </a:lnSpc>
              <a:buNone/>
            </a:pPr>
            <a:r>
              <a:rPr lang="en-US" sz="1100" b="1" dirty="0">
                <a:solidFill>
                  <a:srgbClr val="0F7C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VERIFICATION LAYER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859036"/>
            <a:ext cx="8394192" cy="7679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24"/>
              </a:lnSpc>
              <a:spcBef>
                <a:spcPts val="700"/>
              </a:spcBef>
              <a:buNone/>
            </a:pPr>
            <a:r>
              <a:rPr lang="en-US" sz="2800" b="1" dirty="0">
                <a:solidFill>
                  <a:srgbClr val="10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gates between a fluent draft and an author-verified claim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1739801"/>
            <a:ext cx="1562100" cy="198120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9525">
            <a:solidFill>
              <a:srgbClr val="C6D0D6"/>
            </a:solidFill>
          </a:ln>
          <a:effectLst>
            <a:outerShdw sx="100000" sy="100000" kx="0" ky="0" algn="bl" rotWithShape="0" blurRad="63500" dist="25400" dir="5400000">
              <a:srgbClr val="10263f">
                <a:alpha val="7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19125" y="1939826"/>
            <a:ext cx="1263015" cy="160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5"/>
              </a:lnSpc>
              <a:buNone/>
            </a:pPr>
            <a:r>
              <a:rPr lang="en-US" sz="1100" b="1" dirty="0">
                <a:solidFill>
                  <a:srgbClr val="0F7C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19125" y="2329011"/>
            <a:ext cx="1263015" cy="2696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4"/>
              </a:lnSpc>
              <a:spcBef>
                <a:spcPts val="1800"/>
              </a:spcBef>
              <a:buNone/>
            </a:pPr>
            <a:r>
              <a:rPr lang="en-US" sz="1800" b="1" dirty="0">
                <a:solidFill>
                  <a:srgbClr val="10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19125" y="2738289"/>
            <a:ext cx="1263015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Bef>
                <a:spcPts val="1100"/>
              </a:spcBef>
              <a:buNone/>
            </a:pPr>
            <a:r>
              <a:rPr lang="en-US" sz="1100" dirty="0">
                <a:solidFill>
                  <a:srgbClr val="60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Original source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120801" y="1739801"/>
            <a:ext cx="1562100" cy="198120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9525">
            <a:solidFill>
              <a:srgbClr val="C6D0D6"/>
            </a:solidFill>
          </a:ln>
          <a:effectLst>
            <a:outerShdw sx="100000" sy="100000" kx="0" ky="0" algn="bl" rotWithShape="0" blurRad="63500" dist="25400" dir="5400000">
              <a:srgbClr val="10263f">
                <a:alpha val="7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282726" y="1939826"/>
            <a:ext cx="1263015" cy="160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5"/>
              </a:lnSpc>
              <a:buNone/>
            </a:pPr>
            <a:r>
              <a:rPr lang="en-US" sz="1100" b="1" dirty="0">
                <a:solidFill>
                  <a:srgbClr val="0F7C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282726" y="2329011"/>
            <a:ext cx="1263015" cy="2696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4"/>
              </a:lnSpc>
              <a:spcBef>
                <a:spcPts val="1800"/>
              </a:spcBef>
              <a:buNone/>
            </a:pPr>
            <a:r>
              <a:rPr lang="en-US" sz="1800" b="1" dirty="0">
                <a:solidFill>
                  <a:srgbClr val="10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282726" y="2738289"/>
            <a:ext cx="1263015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Bef>
                <a:spcPts val="1100"/>
              </a:spcBef>
              <a:buNone/>
            </a:pPr>
            <a:r>
              <a:rPr lang="en-US" sz="1100" dirty="0">
                <a:solidFill>
                  <a:srgbClr val="60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 and evidence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784402" y="1739801"/>
            <a:ext cx="1562100" cy="198120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9525">
            <a:solidFill>
              <a:srgbClr val="C6D0D6"/>
            </a:solidFill>
          </a:ln>
          <a:effectLst>
            <a:outerShdw sx="100000" sy="100000" kx="0" ky="0" algn="bl" rotWithShape="0" blurRad="63500" dist="25400" dir="5400000">
              <a:srgbClr val="10263f">
                <a:alpha val="7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946327" y="1939826"/>
            <a:ext cx="1263015" cy="160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5"/>
              </a:lnSpc>
              <a:buNone/>
            </a:pPr>
            <a:r>
              <a:rPr lang="en-US" sz="1100" b="1" dirty="0">
                <a:solidFill>
                  <a:srgbClr val="0F7C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946327" y="2329011"/>
            <a:ext cx="1263015" cy="2696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4"/>
              </a:lnSpc>
              <a:spcBef>
                <a:spcPts val="1800"/>
              </a:spcBef>
              <a:buNone/>
            </a:pPr>
            <a:r>
              <a:rPr lang="en-US" sz="1800" b="1" dirty="0">
                <a:solidFill>
                  <a:srgbClr val="10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Reproduce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946327" y="2738289"/>
            <a:ext cx="1263015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Bef>
                <a:spcPts val="1100"/>
              </a:spcBef>
              <a:buNone/>
            </a:pPr>
            <a:r>
              <a:rPr lang="en-US" sz="1100" dirty="0">
                <a:solidFill>
                  <a:srgbClr val="60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Decisive steps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48002" y="1739801"/>
            <a:ext cx="1562100" cy="198120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9525">
            <a:solidFill>
              <a:srgbClr val="C6D0D6"/>
            </a:solidFill>
          </a:ln>
          <a:effectLst>
            <a:outerShdw sx="100000" sy="100000" kx="0" ky="0" algn="bl" rotWithShape="0" blurRad="63500" dist="25400" dir="5400000">
              <a:srgbClr val="10263f">
                <a:alpha val="7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609927" y="1939826"/>
            <a:ext cx="1263015" cy="160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5"/>
              </a:lnSpc>
              <a:buNone/>
            </a:pPr>
            <a:r>
              <a:rPr lang="en-US" sz="1100" b="1" dirty="0">
                <a:solidFill>
                  <a:srgbClr val="0F7C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609927" y="2329011"/>
            <a:ext cx="1263015" cy="2696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4"/>
              </a:lnSpc>
              <a:spcBef>
                <a:spcPts val="1800"/>
              </a:spcBef>
              <a:buNone/>
            </a:pPr>
            <a:r>
              <a:rPr lang="en-US" sz="1800" b="1" dirty="0">
                <a:solidFill>
                  <a:srgbClr val="10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609927" y="2738289"/>
            <a:ext cx="1263015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Bef>
                <a:spcPts val="1100"/>
              </a:spcBef>
              <a:buNone/>
            </a:pPr>
            <a:r>
              <a:rPr lang="en-US" sz="1100" dirty="0">
                <a:solidFill>
                  <a:srgbClr val="60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Dependencies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111603" y="1739801"/>
            <a:ext cx="1562100" cy="1981200"/>
          </a:xfrm>
          <a:prstGeom prst="roundRect">
            <a:avLst>
              <a:gd name="adj" fmla="val 4878"/>
            </a:avLst>
          </a:prstGeom>
          <a:solidFill>
            <a:srgbClr val="153A52"/>
          </a:solidFill>
          <a:ln w="9525">
            <a:solidFill>
              <a:srgbClr val="153A5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7273528" y="1939826"/>
            <a:ext cx="1263015" cy="160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5"/>
              </a:lnSpc>
              <a:buNone/>
            </a:pPr>
            <a:r>
              <a:rPr lang="en-US" sz="1100" b="1" dirty="0">
                <a:solidFill>
                  <a:srgbClr val="E8A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273528" y="2329011"/>
            <a:ext cx="1263015" cy="2696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4"/>
              </a:lnSpc>
              <a:spcBef>
                <a:spcPts val="1800"/>
              </a:spcBef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Calibrate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273528" y="2738289"/>
            <a:ext cx="1263015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Bef>
                <a:spcPts val="1100"/>
              </a:spcBef>
              <a:buNone/>
            </a:pPr>
            <a:r>
              <a:rPr lang="en-US" sz="1100" dirty="0">
                <a:solidFill>
                  <a:srgbClr val="E9EE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Against outcomes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4121646"/>
            <a:ext cx="8096199" cy="5393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4"/>
              </a:lnSpc>
              <a:buNone/>
            </a:pPr>
            <a:r>
              <a:rPr lang="en-US" sz="1800" b="1" dirty="0">
                <a:solidFill>
                  <a:srgbClr val="0F7C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Reasoning is a candidate. Citations are leads. Confidence must be calibrated.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3238449" cy="184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2"/>
              </a:lnSpc>
              <a:buNone/>
            </a:pPr>
            <a:r>
              <a:rPr lang="en-US" sz="1100" b="1" dirty="0">
                <a:solidFill>
                  <a:srgbClr val="0F7C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SCHOLAR IN THE LOOP · VIDEO 02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132320" y="126950"/>
            <a:ext cx="1554480" cy="184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60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08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355550"/>
            <a:ext cx="8229600" cy="12650"/>
          </a:xfrm>
          <a:prstGeom prst="rect">
            <a:avLst/>
          </a:prstGeom>
          <a:solidFill>
            <a:srgbClr val="C6D0D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7200" y="609600"/>
            <a:ext cx="8394192" cy="160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5"/>
              </a:lnSpc>
              <a:buNone/>
            </a:pPr>
            <a:r>
              <a:rPr lang="en-US" sz="1100" b="1" dirty="0">
                <a:solidFill>
                  <a:srgbClr val="0F7C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 &amp; DISCLOSURE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859036"/>
            <a:ext cx="8394192" cy="3839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24"/>
              </a:lnSpc>
              <a:spcBef>
                <a:spcPts val="700"/>
              </a:spcBef>
              <a:buNone/>
            </a:pPr>
            <a:r>
              <a:rPr lang="en-US" sz="2800" b="1" dirty="0">
                <a:solidFill>
                  <a:srgbClr val="10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 the argument, not just the presentation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57200" y="2152650"/>
            <a:ext cx="7746950" cy="0"/>
          </a:xfrm>
          <a:prstGeom prst="line">
            <a:avLst/>
          </a:prstGeom>
          <a:noFill/>
          <a:ln w="9525">
            <a:solidFill>
              <a:srgbClr val="C6D0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573113"/>
            <a:ext cx="544068" cy="160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5"/>
              </a:lnSpc>
              <a:buNone/>
            </a:pPr>
            <a:r>
              <a:rPr lang="en-US" sz="1100" b="1" dirty="0">
                <a:solidFill>
                  <a:srgbClr val="0F7C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90600" y="1573113"/>
            <a:ext cx="7254139" cy="2696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4"/>
              </a:lnSpc>
              <a:buNone/>
            </a:pPr>
            <a:r>
              <a:rPr lang="en-US" sz="1800" b="1" dirty="0">
                <a:solidFill>
                  <a:srgbClr val="10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Nature Machine Intelligence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90600" y="1880890"/>
            <a:ext cx="7254139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Bef>
                <a:spcPts val="300"/>
              </a:spcBef>
              <a:buNone/>
            </a:pPr>
            <a:r>
              <a:rPr lang="en-US" sz="1100" dirty="0">
                <a:solidFill>
                  <a:srgbClr val="60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Perspective on reasoning tokens · commentary on provenance and validity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838450"/>
            <a:ext cx="7746950" cy="0"/>
          </a:xfrm>
          <a:prstGeom prst="line">
            <a:avLst/>
          </a:prstGeom>
          <a:noFill/>
          <a:ln w="9525">
            <a:solidFill>
              <a:srgbClr val="C6D0D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258913"/>
            <a:ext cx="544068" cy="160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5"/>
              </a:lnSpc>
              <a:buNone/>
            </a:pPr>
            <a:r>
              <a:rPr lang="en-US" sz="1100" b="1" dirty="0">
                <a:solidFill>
                  <a:srgbClr val="0F7C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90600" y="2258913"/>
            <a:ext cx="7254139" cy="2696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4"/>
              </a:lnSpc>
              <a:buNone/>
            </a:pPr>
            <a:r>
              <a:rPr lang="en-US" sz="1800" b="1" dirty="0">
                <a:solidFill>
                  <a:srgbClr val="10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Retraction Watch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90600" y="2566690"/>
            <a:ext cx="7254139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Bef>
                <a:spcPts val="300"/>
              </a:spcBef>
              <a:buNone/>
            </a:pPr>
            <a:r>
              <a:rPr lang="en-US" sz="1100" dirty="0">
                <a:solidFill>
                  <a:srgbClr val="60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Reported dependency failure in AI-associated mathematics manuscripts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524250"/>
            <a:ext cx="7746950" cy="0"/>
          </a:xfrm>
          <a:prstGeom prst="line">
            <a:avLst/>
          </a:prstGeom>
          <a:noFill/>
          <a:ln w="9525">
            <a:solidFill>
              <a:srgbClr val="C6D0D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944713"/>
            <a:ext cx="544068" cy="160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5"/>
              </a:lnSpc>
              <a:buNone/>
            </a:pPr>
            <a:r>
              <a:rPr lang="en-US" sz="1100" b="1" dirty="0">
                <a:solidFill>
                  <a:srgbClr val="0F7C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90600" y="2944713"/>
            <a:ext cx="7254139" cy="2696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4"/>
              </a:lnSpc>
              <a:buNone/>
            </a:pPr>
            <a:r>
              <a:rPr lang="en-US" sz="1800" b="1" dirty="0">
                <a:solidFill>
                  <a:srgbClr val="10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SciSpace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90600" y="3252490"/>
            <a:ext cx="7254139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Bef>
                <a:spcPts val="300"/>
              </a:spcBef>
              <a:buNone/>
            </a:pPr>
            <a:r>
              <a:rPr lang="en-US" sz="1100" dirty="0">
                <a:solidFill>
                  <a:srgbClr val="60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 webinar testimony · statement and reference checking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4210050"/>
            <a:ext cx="7746950" cy="0"/>
          </a:xfrm>
          <a:prstGeom prst="line">
            <a:avLst/>
          </a:prstGeom>
          <a:noFill/>
          <a:ln w="9525">
            <a:solidFill>
              <a:srgbClr val="C6D0D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630513"/>
            <a:ext cx="544068" cy="160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5"/>
              </a:lnSpc>
              <a:buNone/>
            </a:pPr>
            <a:r>
              <a:rPr lang="en-US" sz="1100" b="1" dirty="0">
                <a:solidFill>
                  <a:srgbClr val="0F7C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90600" y="3630513"/>
            <a:ext cx="7254139" cy="2696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4"/>
              </a:lnSpc>
              <a:buNone/>
            </a:pPr>
            <a:r>
              <a:rPr lang="en-US" sz="1800" b="1" dirty="0">
                <a:solidFill>
                  <a:srgbClr val="10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Latent Space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90600" y="3938290"/>
            <a:ext cx="7254139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Bef>
                <a:spcPts val="300"/>
              </a:spcBef>
              <a:buNone/>
            </a:pPr>
            <a:r>
              <a:rPr lang="en-US" sz="1100" dirty="0">
                <a:solidFill>
                  <a:srgbClr val="60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Expert panel testimony · calibration and behavioral characterization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4479429"/>
            <a:ext cx="8096199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60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URLs and timestamps appear in the YouTube description and linked article.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Scholar in the Loop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Fluent Reasoning Is Not Provenance: Build a Verification Layer</dc:title>
  <dc:subject>Scholar in the Loop audience video visual deck</dc:subject>
  <dc:creator>Zhekai Li</dc:creator>
  <cp:lastModifiedBy>Zhekai Li</cp:lastModifiedBy>
  <cp:revision>1</cp:revision>
  <dcterms:created xsi:type="dcterms:W3CDTF">2026-10-10T20:52:40Z</dcterms:created>
  <dcterms:modified xsi:type="dcterms:W3CDTF">2026-10-10T20:52:40Z</dcterms:modified>
</cp:coreProperties>
</file>