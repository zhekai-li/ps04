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634901"/>
            <a:ext cx="54406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400" y="1011287"/>
            <a:ext cx="5440680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6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 reasoning is not provenance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3400" y="2112318"/>
            <a:ext cx="5052060" cy="603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6"/>
              </a:lnSpc>
              <a:spcBef>
                <a:spcPts val="2400"/>
              </a:spcBef>
              <a:buNone/>
            </a:pPr>
            <a:r>
              <a:rPr lang="en-US" sz="18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polished answer can be readable, traceable, and still wrong. Build a verification layer.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77000" y="0"/>
            <a:ext cx="2667000" cy="5143500"/>
          </a:xfrm>
          <a:prstGeom prst="rect">
            <a:avLst/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791325" y="572988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91325" y="3681115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91325" y="134763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1325" y="717352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791325" y="953988"/>
            <a:ext cx="209854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91325" y="212228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1325" y="1492002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91325" y="1728639"/>
            <a:ext cx="209854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located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91325" y="2896939"/>
            <a:ext cx="2057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91325" y="2266652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91325" y="2503289"/>
            <a:ext cx="209854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91325" y="3041303"/>
            <a:ext cx="209854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91325" y="3277939"/>
            <a:ext cx="2098548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owns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91325" y="4407098"/>
            <a:ext cx="2079117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presentation</a:t>
            </a:r>
            <a:endParaRPr lang="en-US" sz="1100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reviewed by Zhekai Li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3400" y="4563963"/>
            <a:ext cx="38862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QUESTIONS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collapse fluency, provenance, and verification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765250"/>
            <a:ext cx="2590800" cy="2082701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96826" y="2066776"/>
            <a:ext cx="21052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6826" y="2519363"/>
            <a:ext cx="2105227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follow the explanation?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6826" y="3289250"/>
            <a:ext cx="2105227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6600" y="1765250"/>
            <a:ext cx="2590800" cy="2082701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40026" y="2066776"/>
            <a:ext cx="21052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40026" y="2519363"/>
            <a:ext cx="2105227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locate the source?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40026" y="3289250"/>
            <a:ext cx="2105227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19800" y="1765250"/>
            <a:ext cx="2590800" cy="2082701"/>
          </a:xfrm>
          <a:prstGeom prst="roundRect">
            <a:avLst>
              <a:gd name="adj" fmla="val 1220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3226" y="2066776"/>
            <a:ext cx="210522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83226" y="2519363"/>
            <a:ext cx="2105227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2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evidence support the claim?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83226" y="3289250"/>
            <a:ext cx="2105227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6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helps. Only verification earns evidentiary credit.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TOKENS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is not faithful explanation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38200" y="1930301"/>
            <a:ext cx="1905000" cy="1219200"/>
          </a:xfrm>
          <a:prstGeom prst="roundRect">
            <a:avLst>
              <a:gd name="adj" fmla="val 2083"/>
            </a:avLst>
          </a:prstGeom>
          <a:solidFill>
            <a:srgbClr val="E7EFEE"/>
          </a:solidFill>
          <a:ln w="9525">
            <a:solidFill>
              <a:srgbClr val="E7EF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62038" y="2219176"/>
            <a:ext cx="145732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2038" y="2582912"/>
            <a:ext cx="1457325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32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tokens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17091" y="2362051"/>
            <a:ext cx="3886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9602" y="1930301"/>
            <a:ext cx="1905000" cy="1219200"/>
          </a:xfrm>
          <a:prstGeom prst="roundRect">
            <a:avLst>
              <a:gd name="adj" fmla="val 2083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03439" y="2384227"/>
            <a:ext cx="145732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58492" y="2362051"/>
            <a:ext cx="3886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1003" y="1930301"/>
            <a:ext cx="1905000" cy="1219200"/>
          </a:xfrm>
          <a:prstGeom prst="roundRect">
            <a:avLst>
              <a:gd name="adj" fmla="val 2083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4841" y="2384227"/>
            <a:ext cx="145732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35101" y="3543300"/>
            <a:ext cx="4673501" cy="736550"/>
          </a:xfrm>
          <a:prstGeom prst="roundRect">
            <a:avLst>
              <a:gd name="adj" fmla="val 3449"/>
            </a:avLst>
          </a:prstGeom>
          <a:solidFill>
            <a:srgbClr val="ECEEED"/>
          </a:solidFill>
          <a:ln w="9525">
            <a:solidFill>
              <a:srgbClr val="ECEE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457060" y="3743325"/>
            <a:ext cx="4229582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Coherence does not prove faithful explanation.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 Perspective · conceptual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SEPARATE CHECKS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located source is not yet supporting evidence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1930301"/>
            <a:ext cx="2438102" cy="172715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90625" y="2231827"/>
            <a:ext cx="19233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90625" y="2620863"/>
            <a:ext cx="1923365" cy="85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7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method improves reliability.”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02742" y="2616101"/>
            <a:ext cx="37344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26421" y="1930301"/>
            <a:ext cx="4003179" cy="762000"/>
          </a:xfrm>
          <a:prstGeom prst="roundRect">
            <a:avLst>
              <a:gd name="adj" fmla="val 3333"/>
            </a:avLst>
          </a:prstGeom>
          <a:solidFill>
            <a:srgbClr val="E7EFEE"/>
          </a:solidFill>
          <a:ln w="9525">
            <a:solidFill>
              <a:srgbClr val="E7EF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02646" y="2168426"/>
            <a:ext cx="3519743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located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26421" y="2895451"/>
            <a:ext cx="4003179" cy="762000"/>
          </a:xfrm>
          <a:prstGeom prst="roundRect">
            <a:avLst>
              <a:gd name="adj" fmla="val 3333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02646" y="3133576"/>
            <a:ext cx="3519743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support still untested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method, context, qualifications, and scope, not just the URL.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TRACING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must travel upstream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070050"/>
            <a:ext cx="2031355" cy="1371600"/>
          </a:xfrm>
          <a:prstGeom prst="roundRect">
            <a:avLst>
              <a:gd name="adj" fmla="val 1852"/>
            </a:avLst>
          </a:prstGeom>
          <a:solidFill>
            <a:srgbClr val="F0E8DA"/>
          </a:solidFill>
          <a:ln w="9525">
            <a:solidFill>
              <a:srgbClr val="F0E8D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36575" y="2346275"/>
            <a:ext cx="15604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UNVERIFIED RESULT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6575" y="2883247"/>
            <a:ext cx="1560400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91227" y="2578001"/>
            <a:ext cx="3701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35400" y="2070050"/>
            <a:ext cx="2152204" cy="137160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86175" y="2346275"/>
            <a:ext cx="16836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CHECKED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86175" y="2710011"/>
            <a:ext cx="1683666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work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61675" y="2578001"/>
            <a:ext cx="37010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5848" y="1981200"/>
            <a:ext cx="2152352" cy="1549301"/>
          </a:xfrm>
          <a:prstGeom prst="roundRect">
            <a:avLst>
              <a:gd name="adj" fmla="val 1639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56623" y="2257425"/>
            <a:ext cx="16838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D8E3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CLAIMS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56623" y="2608362"/>
            <a:ext cx="1683818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4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reproduced</a:t>
            </a:r>
            <a:endParaRPr lang="en-US" sz="1800" dirty="0"/>
          </a:p>
          <a:p>
            <a:pPr algn="l" indent="0" marL="0">
              <a:lnSpc>
                <a:spcPts val="2232"/>
              </a:lnSpc>
              <a:spcBef>
                <a:spcPts val="14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unverified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 report · one sign error affected three dependent manuscripts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BEFORE TRUST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should be tested against observed outcomes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765250"/>
            <a:ext cx="3949601" cy="19050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09625" y="2054126"/>
            <a:ext cx="34650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CLAIM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9625" y="2430512"/>
            <a:ext cx="3465094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evidence traceable and relevant?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9625" y="3230612"/>
            <a:ext cx="3397151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625" y="3387775"/>
            <a:ext cx="3465094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sources · align quotations · reproduce decisive steps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702" y="1765250"/>
            <a:ext cx="3949601" cy="1905000"/>
          </a:xfrm>
          <a:prstGeom prst="roundRect">
            <a:avLst>
              <a:gd name="adj" fmla="val 1333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36927" y="2054126"/>
            <a:ext cx="346509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CONFIDENCE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6927" y="2430512"/>
            <a:ext cx="3465094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6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stated expectations match results?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6927" y="3230612"/>
            <a:ext cx="3397151" cy="0"/>
          </a:xfrm>
          <a:prstGeom prst="line">
            <a:avLst/>
          </a:prstGeom>
          <a:noFill/>
          <a:ln w="9525">
            <a:solidFill>
              <a:srgbClr val="566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6927" y="3387775"/>
            <a:ext cx="346509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predictions · record failures · update reliance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3400" y="3924300"/>
            <a:ext cx="8077200" cy="558701"/>
          </a:xfrm>
          <a:prstGeom prst="roundRect">
            <a:avLst>
              <a:gd name="adj" fmla="val 4546"/>
            </a:avLst>
          </a:prstGeom>
          <a:solidFill>
            <a:srgbClr val="ECEEED"/>
          </a:solidFill>
          <a:ln w="9525">
            <a:solidFill>
              <a:srgbClr val="ECEE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1322" y="4086225"/>
            <a:ext cx="770135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earns trust only when it tracks performance.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VERIFICATION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79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gates between a fluent draft and an author-verified claim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33400" y="18033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6075" y="2066776"/>
            <a:ext cx="11310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6075" y="2468612"/>
            <a:ext cx="1131097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6075" y="2917031"/>
            <a:ext cx="1131097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69170" y="1803350"/>
            <a:ext cx="1534120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381845" y="2066776"/>
            <a:ext cx="113094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81845" y="2468612"/>
            <a:ext cx="1130945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381845" y="3200400"/>
            <a:ext cx="1130945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and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04791" y="18033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017466" y="2066776"/>
            <a:ext cx="11310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17466" y="2468612"/>
            <a:ext cx="1131097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017466" y="2917031"/>
            <a:ext cx="1131097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Decisive steps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561" y="18033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9525">
            <a:solidFill>
              <a:srgbClr val="CDD2D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53236" y="2066776"/>
            <a:ext cx="11310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53236" y="2468612"/>
            <a:ext cx="1131097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it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53236" y="2917031"/>
            <a:ext cx="1131097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76331" y="1803350"/>
            <a:ext cx="1534269" cy="1905000"/>
          </a:xfrm>
          <a:prstGeom prst="roundRect">
            <a:avLst>
              <a:gd name="adj" fmla="val 1656"/>
            </a:avLst>
          </a:prstGeom>
          <a:solidFill>
            <a:srgbClr val="182433"/>
          </a:solidFill>
          <a:ln w="9525">
            <a:solidFill>
              <a:srgbClr val="18243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289006" y="2066776"/>
            <a:ext cx="11310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B58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89006" y="2468612"/>
            <a:ext cx="1131097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spcBef>
                <a:spcPts val="18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89006" y="2917031"/>
            <a:ext cx="1131097" cy="39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1300"/>
              </a:spcBef>
              <a:buNone/>
            </a:pPr>
            <a:r>
              <a:rPr lang="en-US" sz="1100" dirty="0">
                <a:solidFill>
                  <a:srgbClr val="D8DD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outcomes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3400" y="4094262"/>
            <a:ext cx="8238744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is a candidate. Citations are leads. Confidence must be calibrated.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152400"/>
            <a:ext cx="336793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 IN THE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890260" y="152400"/>
            <a:ext cx="27203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DISCIPLINE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3400" y="431750"/>
            <a:ext cx="8077200" cy="12650"/>
          </a:xfrm>
          <a:prstGeom prst="rect">
            <a:avLst/>
          </a:prstGeom>
          <a:solidFill>
            <a:srgbClr val="CDD2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698450"/>
            <a:ext cx="82387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dirty="0">
                <a:solidFill>
                  <a:srgbClr val="2F6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3400" y="998637"/>
            <a:ext cx="8238744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6"/>
              </a:lnSpc>
              <a:spcBef>
                <a:spcPts val="1000"/>
              </a:spcBef>
              <a:buNone/>
            </a:pPr>
            <a:r>
              <a:rPr lang="en-US" sz="2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the argument, not just the presentation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33400" y="2293590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400" y="1803053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1764953"/>
            <a:ext cx="756503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Machine Intelligence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2086421"/>
            <a:ext cx="756503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 on reasoning tokens · commentary on provenance and validity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3400" y="2941290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400" y="2450753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2000" y="2412653"/>
            <a:ext cx="756503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Retraction Watch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2734121"/>
            <a:ext cx="756503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dependency failure in AI-associated mathematics manuscripts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3400" y="3588990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400" y="3098453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2000" y="3060353"/>
            <a:ext cx="756503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000" y="3381821"/>
            <a:ext cx="756503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webinar testimony · statement and reference checking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33400" y="4236690"/>
            <a:ext cx="7746950" cy="0"/>
          </a:xfrm>
          <a:prstGeom prst="line">
            <a:avLst/>
          </a:prstGeom>
          <a:noFill/>
          <a:ln w="9525">
            <a:solidFill>
              <a:srgbClr val="CDD2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3746153"/>
            <a:ext cx="126950" cy="25301"/>
          </a:xfrm>
          <a:prstGeom prst="rect">
            <a:avLst/>
          </a:prstGeom>
          <a:solidFill>
            <a:srgbClr val="2F6F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2000" y="3708053"/>
            <a:ext cx="7565035" cy="283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en-US" sz="1800" b="1" dirty="0">
                <a:solidFill>
                  <a:srgbClr val="18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2000" y="4029521"/>
            <a:ext cx="7565035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spcBef>
                <a:spcPts val="300"/>
              </a:spcBef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panel testimony · calibration and behavioral characterization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3400" y="4462611"/>
            <a:ext cx="8238744" cy="19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5D68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URLs and timestamps appear in the YouTube description and linked article.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Scholar in the Loop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Fluent Reasoning Is Not Provenance: Build a Verification Layer</dc:title>
  <dc:subject>Scholar in the Loop audience video visual deck</dc:subject>
  <dc:creator>Zhekai Li</dc:creator>
  <cp:lastModifiedBy>Zhekai Li</cp:lastModifiedBy>
  <cp:revision>1</cp:revision>
  <dcterms:created xsi:type="dcterms:W3CDTF">2026-10-10T22:30:27Z</dcterms:created>
  <dcterms:modified xsi:type="dcterms:W3CDTF">2026-10-10T22:30:27Z</dcterms:modified>
</cp:coreProperties>
</file>