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58701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88802"/>
            <a:ext cx="5440680" cy="83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Bef>
                <a:spcPts val="1400"/>
              </a:spcBef>
              <a:buNone/>
            </a:pPr>
            <a:r>
              <a:rPr lang="en-US" sz="31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reasoning is not provenance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951732"/>
            <a:ext cx="4987239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polished answer can be readable, traceable—and still wrong. Build a verification layer.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oundRect">
            <a:avLst>
              <a:gd name="adj" fmla="val 4762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42075" y="669875"/>
            <a:ext cx="1955750" cy="939701"/>
          </a:xfrm>
          <a:prstGeom prst="roundRect">
            <a:avLst>
              <a:gd name="adj" fmla="val 9460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54751" y="882551"/>
            <a:ext cx="15610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54751" y="1104751"/>
            <a:ext cx="15610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Sounds right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42075" y="1711226"/>
            <a:ext cx="1955750" cy="787301"/>
          </a:xfrm>
          <a:prstGeom prst="roundRect">
            <a:avLst>
              <a:gd name="adj" fmla="val 11292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29301" y="1898452"/>
            <a:ext cx="1612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29301" y="2120652"/>
            <a:ext cx="1612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located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42075" y="2600176"/>
            <a:ext cx="1955750" cy="863501"/>
          </a:xfrm>
          <a:prstGeom prst="roundRect">
            <a:avLst>
              <a:gd name="adj" fmla="val 10295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19776" y="2777877"/>
            <a:ext cx="1632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19776" y="3000077"/>
            <a:ext cx="16323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supported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16626" y="4091732"/>
            <a:ext cx="19877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6626" y="4248894"/>
            <a:ext cx="2027503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92675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AUDIENCE VIDEO · 3–5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QUESTIONS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collapse fluency, provenance, and verification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739801"/>
            <a:ext cx="2641550" cy="20827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325" y="1977926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5325" y="2409676"/>
            <a:ext cx="2208606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4"/>
              </a:lnSpc>
              <a:spcBef>
                <a:spcPts val="2200"/>
              </a:spcBef>
              <a:buNone/>
            </a:pPr>
            <a:r>
              <a:rPr lang="en-US" sz="1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follow the explanation?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95325" y="3159770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51150" y="1739801"/>
            <a:ext cx="2641550" cy="20827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275" y="1977926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89275" y="2409676"/>
            <a:ext cx="2208606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4"/>
              </a:lnSpc>
              <a:spcBef>
                <a:spcPts val="2200"/>
              </a:spcBef>
              <a:buNone/>
            </a:pPr>
            <a:r>
              <a:rPr lang="en-US" sz="1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locate the source?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489275" y="3159770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45101" y="1739801"/>
            <a:ext cx="2641550" cy="2082701"/>
          </a:xfrm>
          <a:prstGeom prst="roundRect">
            <a:avLst>
              <a:gd name="adj" fmla="val 4878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3226" y="1977926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3226" y="2409676"/>
            <a:ext cx="2208606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4"/>
              </a:lnSpc>
              <a:spcBef>
                <a:spcPts val="2200"/>
              </a:spcBef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evidence support the claim?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83226" y="3159770"/>
            <a:ext cx="2208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1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helps. Only the last one earns evidentiary credit.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367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TOKENS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251"/>
            <a:ext cx="3367939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is not faithful explanation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10804"/>
            <a:ext cx="3367939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model reasoning as a candidate derivation to reconstruct independently.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7950" y="1473101"/>
            <a:ext cx="1015901" cy="1168301"/>
          </a:xfrm>
          <a:prstGeom prst="roundRect">
            <a:avLst>
              <a:gd name="adj" fmla="val 12501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34093" y="1685776"/>
            <a:ext cx="783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093" y="1981051"/>
            <a:ext cx="7836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tokens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60802" y="18794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66962" y="19618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302" y="1473101"/>
            <a:ext cx="1015901" cy="1168301"/>
          </a:xfrm>
          <a:prstGeom prst="roundRect">
            <a:avLst>
              <a:gd name="adj" fmla="val 12501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46390" y="1876276"/>
            <a:ext cx="8097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086154" y="18794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92314" y="19618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68654" y="1473101"/>
            <a:ext cx="1015901" cy="1168301"/>
          </a:xfrm>
          <a:prstGeom prst="roundRect">
            <a:avLst>
              <a:gd name="adj" fmla="val 12501"/>
            </a:avLst>
          </a:prstGeom>
          <a:solidFill>
            <a:srgbClr val="F7E7C8"/>
          </a:solidFill>
          <a:ln w="9525">
            <a:solidFill>
              <a:srgbClr val="E5C9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58838" y="1876276"/>
            <a:ext cx="8355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38651" y="3060650"/>
            <a:ext cx="2793950" cy="9144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53599" y="3247876"/>
            <a:ext cx="23640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 EXPLANATION?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3599" y="3492252"/>
            <a:ext cx="236405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D86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guaranteed by the output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 Perspective · conceptual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CHECKS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located source is not yet supporting evidence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88950" y="1936552"/>
            <a:ext cx="2286000" cy="1650950"/>
          </a:xfrm>
          <a:prstGeom prst="roundRect">
            <a:avLst>
              <a:gd name="adj" fmla="val 7693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52376" y="2199977"/>
            <a:ext cx="1794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376" y="2520553"/>
            <a:ext cx="1794331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method improves reliability.”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3550" y="25842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9710" y="266670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87701" y="1936552"/>
            <a:ext cx="3810000" cy="736550"/>
          </a:xfrm>
          <a:prstGeom prst="roundRect">
            <a:avLst>
              <a:gd name="adj" fmla="val 12070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25826" y="2174677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Source located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87701" y="2850803"/>
            <a:ext cx="3810000" cy="736550"/>
          </a:xfrm>
          <a:prstGeom prst="roundRect">
            <a:avLst>
              <a:gd name="adj" fmla="val 12070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25826" y="3088928"/>
            <a:ext cx="3400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Precise claim supported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8950" y="4446984"/>
            <a:ext cx="72541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method, context, qualifications, and scope—not just the URL.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TRACING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must travel upstream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87301" y="23494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49226" y="2511326"/>
            <a:ext cx="1612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UNVERIFIED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9226" y="2743051"/>
            <a:ext cx="16127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result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54301" y="23494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7E7C8"/>
          </a:solidFill>
          <a:ln w="9525">
            <a:solidFill>
              <a:srgbClr val="E5C9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16226" y="2511326"/>
            <a:ext cx="16127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SOURCE CHECKED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6226" y="2885926"/>
            <a:ext cx="16127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construction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48251" y="1727150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10176" y="1889075"/>
            <a:ext cx="1612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REPRODUCED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10176" y="2120801"/>
            <a:ext cx="16127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claim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8251" y="30733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10176" y="3235226"/>
            <a:ext cx="1612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UNVERIFIED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10176" y="3466951"/>
            <a:ext cx="16127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dependent claim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95451" y="26161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01611" y="26985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76751" y="205740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82911" y="2139851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76751" y="304800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82911" y="3130451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4446984"/>
            <a:ext cx="777240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 report · one sign error affected three dependent manuscripts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BEFORE TRUST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should predict observed behavior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714500"/>
            <a:ext cx="4953000" cy="20955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977926"/>
            <a:ext cx="4514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CHARACTERIZATION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3026" y="3356074"/>
            <a:ext cx="4121348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3026" y="2333625"/>
            <a:ext cx="12650" cy="103510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28725" y="318447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17675" y="289232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97126" y="261297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76725" y="238437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D86A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54126" y="3565624"/>
            <a:ext cx="13947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CONFIDENCE 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5899" y="1714500"/>
            <a:ext cx="2920901" cy="939701"/>
          </a:xfrm>
          <a:prstGeom prst="roundRect">
            <a:avLst>
              <a:gd name="adj" fmla="val 9460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91225" y="1939826"/>
            <a:ext cx="25196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91225" y="2171551"/>
            <a:ext cx="25196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 &amp; references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5899" y="2819251"/>
            <a:ext cx="2920901" cy="990600"/>
          </a:xfrm>
          <a:prstGeom prst="roundRect">
            <a:avLst>
              <a:gd name="adj" fmla="val 8974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91225" y="3044577"/>
            <a:ext cx="25196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91225" y="3276302"/>
            <a:ext cx="25196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Strengths, limits, failures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VERIFICATION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gates between a fluent draft and an author-verified claim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777901"/>
            <a:ext cx="1574750" cy="19050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977926"/>
            <a:ext cx="1275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125" y="2384227"/>
            <a:ext cx="12759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9125" y="2768352"/>
            <a:ext cx="127591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source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20801" y="1777901"/>
            <a:ext cx="1574750" cy="19050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82726" y="1977926"/>
            <a:ext cx="1275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2726" y="2384227"/>
            <a:ext cx="12759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282726" y="2768352"/>
            <a:ext cx="127591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↔ 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84402" y="1777901"/>
            <a:ext cx="1574750" cy="19050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46327" y="1977926"/>
            <a:ext cx="1275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46327" y="2384227"/>
            <a:ext cx="12759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946327" y="2768352"/>
            <a:ext cx="127591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Decisive steps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8002" y="1777901"/>
            <a:ext cx="1574750" cy="19050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09927" y="1977926"/>
            <a:ext cx="1275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09927" y="2384227"/>
            <a:ext cx="12759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09927" y="2768352"/>
            <a:ext cx="127591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1603" y="1777901"/>
            <a:ext cx="1574750" cy="1905000"/>
          </a:xfrm>
          <a:prstGeom prst="roundRect">
            <a:avLst>
              <a:gd name="adj" fmla="val 5645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73528" y="1977926"/>
            <a:ext cx="1275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73528" y="2384227"/>
            <a:ext cx="12759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73528" y="2768352"/>
            <a:ext cx="1275918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000"/>
              </a:spcBef>
              <a:buNone/>
            </a:pPr>
            <a:r>
              <a:rPr lang="en-US" sz="10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outcomes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35525"/>
            <a:ext cx="80313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= candidate · Citations = leads · Confidence = untrusted until calibrated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02 ·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14326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" y="2034480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1514326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0600" y="173965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on reasoning tokens · commentary on provenance and validity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53543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0600" y="2673697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2153543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0600" y="2378869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dependency failure in AI-associated mathematics manuscripts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92760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0600" y="3312914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" y="2792760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0600" y="3018086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webinar testimony · statement and reference checking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31977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" y="3952131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600" y="3431977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0600" y="365730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panel testimony · calibration and behavioral characterization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2434"/>
            <a:ext cx="647689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Fluent Reasoning Is Not Provenance: Build a Verification Layer</dc:title>
  <dc:subject>Scholar in the Loop audience video visual deck</dc:subject>
  <dc:creator>Zhekai Li</dc:creator>
  <cp:lastModifiedBy>Zhekai Li</cp:lastModifiedBy>
  <cp:revision>1</cp:revision>
  <dcterms:created xsi:type="dcterms:W3CDTF">2026-10-10T19:22:23Z</dcterms:created>
  <dcterms:modified xsi:type="dcterms:W3CDTF">2026-10-10T19:22:23Z</dcterms:modified>
</cp:coreProperties>
</file>