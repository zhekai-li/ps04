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4150"/>
            <a:ext cx="557016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922437"/>
            <a:ext cx="5570169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14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responsibility by recording the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931640"/>
            <a:ext cx="5116729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900"/>
              </a:spcBef>
              <a:buNone/>
            </a:pPr>
            <a:r>
              <a:rPr lang="en-US" sz="18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says AI was used. A process record shows what happened and who made the consequential decisions.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816626" y="585788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6626" y="3541514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6626" y="1322338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81676" y="679400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81676" y="878086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16626" y="2058888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81676" y="1415951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81676" y="1614636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16626" y="2795439"/>
            <a:ext cx="2006501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1676" y="2152501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1F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81676" y="2351187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81676" y="2889052"/>
            <a:ext cx="170992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81676" y="3087737"/>
            <a:ext cx="170992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6626" y="4427934"/>
            <a:ext cx="2027503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51164"/>
            <a:ext cx="453379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AUDIENCE VIDEO · 3–5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DISCLOSURE IS NOT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requires an inspectable chain of decisions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09600" y="1777901"/>
            <a:ext cx="1866900" cy="1854101"/>
          </a:xfrm>
          <a:prstGeom prst="roundRect">
            <a:avLst>
              <a:gd name="adj" fmla="val 4110"/>
            </a:avLst>
          </a:prstGeom>
          <a:solidFill>
            <a:srgbClr val="F6DFDA"/>
          </a:solidFill>
          <a:ln w="9525">
            <a:solidFill>
              <a:srgbClr val="E4B0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9625" y="2003227"/>
            <a:ext cx="149618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D76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9625" y="2417713"/>
            <a:ext cx="149618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9625" y="2839789"/>
            <a:ext cx="149618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label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28900" y="1777901"/>
            <a:ext cx="1866900" cy="1854101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28925" y="2003227"/>
            <a:ext cx="149618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28925" y="2417713"/>
            <a:ext cx="149618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bounded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28925" y="3109466"/>
            <a:ext cx="149618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what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8200" y="1777901"/>
            <a:ext cx="1866900" cy="1854101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8225" y="2003227"/>
            <a:ext cx="149618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8225" y="2417713"/>
            <a:ext cx="149618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checked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8225" y="3109466"/>
            <a:ext cx="149618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entered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67500" y="1777901"/>
            <a:ext cx="1866900" cy="1854101"/>
          </a:xfrm>
          <a:prstGeom prst="roundRect">
            <a:avLst>
              <a:gd name="adj" fmla="val 4110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67525" y="2003227"/>
            <a:ext cx="149618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67525" y="2417713"/>
            <a:ext cx="149618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20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defended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67525" y="3109466"/>
            <a:ext cx="149618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accountable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expert perspective · contribution and intellectual responsibility must remain visible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 THE DIVISION OF LABOR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 operations. Retain scientific judgment.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76400"/>
            <a:ext cx="3962400" cy="2260550"/>
          </a:xfrm>
          <a:prstGeom prst="roundRect">
            <a:avLst>
              <a:gd name="adj" fmla="val 3371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0626" y="1939826"/>
            <a:ext cx="350425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LANE · REVERSIBLE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0626" y="2329011"/>
            <a:ext cx="3886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1626" y="2329011"/>
            <a:ext cx="902631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terms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20626" y="2624882"/>
            <a:ext cx="3886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01626" y="2624882"/>
            <a:ext cx="129808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clustering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0626" y="2920752"/>
            <a:ext cx="3886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1626" y="2920752"/>
            <a:ext cx="116327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Formatting notes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0626" y="3216622"/>
            <a:ext cx="3886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01626" y="3216622"/>
            <a:ext cx="1210794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proposals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4400" y="1676400"/>
            <a:ext cx="3962400" cy="2260550"/>
          </a:xfrm>
          <a:prstGeom prst="roundRect">
            <a:avLst>
              <a:gd name="adj" fmla="val 3371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87826" y="1939826"/>
            <a:ext cx="350425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LANE · ACCOUNTABLE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7826" y="2329011"/>
            <a:ext cx="3886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68826" y="2329011"/>
            <a:ext cx="139280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7826" y="2624882"/>
            <a:ext cx="3886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68826" y="2624882"/>
            <a:ext cx="14409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acceptance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7826" y="2920752"/>
            <a:ext cx="3886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68826" y="2920752"/>
            <a:ext cx="18362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interpretation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7826" y="3216622"/>
            <a:ext cx="38862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68826" y="3216622"/>
            <a:ext cx="81549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claims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 practitioner testimony · a useful boundary, not product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THE PROCESS, NOT ONLY THE RESULT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paths explain how the final path emerged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7950" y="2057400"/>
            <a:ext cx="1580108" cy="1219200"/>
          </a:xfrm>
          <a:prstGeom prst="roundRect">
            <a:avLst>
              <a:gd name="adj" fmla="val 6250"/>
            </a:avLst>
          </a:prstGeom>
          <a:solidFill>
            <a:srgbClr val="E1F2EE"/>
          </a:solidFill>
          <a:ln w="9525">
            <a:solidFill>
              <a:srgbClr val="B7DC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2526" y="2282726"/>
            <a:ext cx="125557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2526" y="2633811"/>
            <a:ext cx="125557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72660" y="2489150"/>
            <a:ext cx="433402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0664" y="2057400"/>
            <a:ext cx="1580108" cy="1219200"/>
          </a:xfrm>
          <a:prstGeom prst="roundRect">
            <a:avLst>
              <a:gd name="adj" fmla="val 6250"/>
            </a:avLst>
          </a:prstGeom>
          <a:solidFill>
            <a:srgbClr val="F6DFDA"/>
          </a:solidFill>
          <a:ln w="9525">
            <a:solidFill>
              <a:srgbClr val="E4B0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65239" y="2282726"/>
            <a:ext cx="125557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65239" y="2633811"/>
            <a:ext cx="125557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55375" y="2489150"/>
            <a:ext cx="43325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73228" y="2057400"/>
            <a:ext cx="1580108" cy="1219200"/>
          </a:xfrm>
          <a:prstGeom prst="roundRect">
            <a:avLst>
              <a:gd name="adj" fmla="val 6250"/>
            </a:avLst>
          </a:prstGeom>
          <a:solidFill>
            <a:srgbClr val="F8EBCF"/>
          </a:solidFill>
          <a:ln w="9525">
            <a:solidFill>
              <a:srgbClr val="E7CC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7804" y="2282726"/>
            <a:ext cx="125557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47804" y="2633811"/>
            <a:ext cx="125557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39" y="2489150"/>
            <a:ext cx="43325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55793" y="2057400"/>
            <a:ext cx="1580108" cy="1219200"/>
          </a:xfrm>
          <a:prstGeom prst="roundRect">
            <a:avLst>
              <a:gd name="adj" fmla="val 6250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30368" y="2282726"/>
            <a:ext cx="125557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30368" y="2633811"/>
            <a:ext cx="1255577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Labs founder testimony · process evidence, not independent performance validation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REQUIRES LINEAGE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is useful only if affected claims can be located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7950" y="2006650"/>
            <a:ext cx="1580108" cy="1320701"/>
          </a:xfrm>
          <a:prstGeom prst="roundRect">
            <a:avLst>
              <a:gd name="adj" fmla="val 5770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2526" y="2206675"/>
            <a:ext cx="125557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2526" y="2494211"/>
            <a:ext cx="125557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found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72660" y="2489150"/>
            <a:ext cx="433402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0664" y="2006650"/>
            <a:ext cx="1580108" cy="1320701"/>
          </a:xfrm>
          <a:prstGeom prst="roundRect">
            <a:avLst>
              <a:gd name="adj" fmla="val 5770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65239" y="2206675"/>
            <a:ext cx="125557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65239" y="2494211"/>
            <a:ext cx="125557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355375" y="2489150"/>
            <a:ext cx="43325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73228" y="2006650"/>
            <a:ext cx="1580108" cy="1320701"/>
          </a:xfrm>
          <a:prstGeom prst="roundRect">
            <a:avLst>
              <a:gd name="adj" fmla="val 5770"/>
            </a:avLst>
          </a:prstGeom>
          <a:solidFill>
            <a:srgbClr val="F8EBCF"/>
          </a:solidFill>
          <a:ln w="9525">
            <a:solidFill>
              <a:srgbClr val="E7CC9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47804" y="2206675"/>
            <a:ext cx="125557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47804" y="2494211"/>
            <a:ext cx="1255577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where possible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39" y="2489150"/>
            <a:ext cx="433251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55793" y="2006650"/>
            <a:ext cx="1580108" cy="1320701"/>
          </a:xfrm>
          <a:prstGeom prst="roundRect">
            <a:avLst>
              <a:gd name="adj" fmla="val 5770"/>
            </a:avLst>
          </a:prstGeom>
          <a:solidFill>
            <a:srgbClr val="F6DFDA"/>
          </a:solidFill>
          <a:ln w="9525">
            <a:solidFill>
              <a:srgbClr val="E4B0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230368" y="2206675"/>
            <a:ext cx="1255577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WITHDRAW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30368" y="2494211"/>
            <a:ext cx="125557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if not fixable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supports correction. It does not guarantee correctness.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 SEVEN-FIELD 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enough context to reconstruct the decision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50950"/>
            <a:ext cx="1955750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1775" y="1825526"/>
            <a:ext cx="163873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775" y="2113062"/>
            <a:ext cx="163873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39901" y="1650950"/>
            <a:ext cx="1955750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14476" y="1825526"/>
            <a:ext cx="163873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14476" y="2113062"/>
            <a:ext cx="163873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22602" y="1650950"/>
            <a:ext cx="1955750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97177" y="1825526"/>
            <a:ext cx="163873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7177" y="2113062"/>
            <a:ext cx="163873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or model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05302" y="1650950"/>
            <a:ext cx="1955750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1825526"/>
            <a:ext cx="163873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79878" y="2113062"/>
            <a:ext cx="1638732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limits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2717602"/>
            <a:ext cx="2654201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1775" y="2892177"/>
            <a:ext cx="2351151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1775" y="3179713"/>
            <a:ext cx="2351151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used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38351" y="2717602"/>
            <a:ext cx="2654201" cy="939701"/>
          </a:xfrm>
          <a:prstGeom prst="roundRect">
            <a:avLst>
              <a:gd name="adj" fmla="val 8109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412927" y="2892177"/>
            <a:ext cx="2351151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12927" y="3179713"/>
            <a:ext cx="2351151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19502" y="2717602"/>
            <a:ext cx="2654201" cy="939701"/>
          </a:xfrm>
          <a:prstGeom prst="roundRect">
            <a:avLst>
              <a:gd name="adj" fmla="val 8109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94078" y="2892177"/>
            <a:ext cx="2351151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4078" y="3179713"/>
            <a:ext cx="2351151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0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decision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60350"/>
            <a:ext cx="3497580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RECORDS, TWO AUDIENCES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22437"/>
            <a:ext cx="3497580" cy="1151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8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lineage is richer than public disclosure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302966"/>
            <a:ext cx="3497580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journal, university, funder, disciplinary, privacy, ethics, IRB, and IP requirements.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94299" y="914400"/>
            <a:ext cx="4292501" cy="14985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C6D0D6"/>
            </a:solidFill>
          </a:ln>
          <a:effectLst>
            <a:outerShdw sx="100000" sy="100000" kx="0" ky="0" algn="bl" rotWithShape="0" blurRad="63500" dist="25400" dir="5400000">
              <a:srgbClr val="10263f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45075" y="1165175"/>
            <a:ext cx="386676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PROCESS LOG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45075" y="1478161"/>
            <a:ext cx="386676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operational lineage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5075" y="1874788"/>
            <a:ext cx="3866769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Prompts, evidence, failed paths, verification, corrections, and decisions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94299" y="2616101"/>
            <a:ext cx="4292501" cy="1498550"/>
          </a:xfrm>
          <a:prstGeom prst="roundRect">
            <a:avLst>
              <a:gd name="adj" fmla="val 5085"/>
            </a:avLst>
          </a:prstGeom>
          <a:solidFill>
            <a:srgbClr val="153A52"/>
          </a:solidFill>
          <a:ln w="9525">
            <a:solidFill>
              <a:srgbClr val="153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645075" y="2866876"/>
            <a:ext cx="3866769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E8A3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DISCLOSURE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45075" y="3179862"/>
            <a:ext cx="3866769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spcBef>
                <a:spcPts val="1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assistance, stated proportionally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45075" y="3846165"/>
            <a:ext cx="386676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1000"/>
              </a:spcBef>
              <a:buNone/>
            </a:pPr>
            <a:r>
              <a:rPr lang="en-US" sz="1100" dirty="0">
                <a:solidFill>
                  <a:srgbClr val="E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Audience-facing and policy-specific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3238449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 · VIDEO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132320" y="126950"/>
            <a:ext cx="1554480" cy="18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229600" cy="12650"/>
          </a:xfrm>
          <a:prstGeom prst="rect">
            <a:avLst/>
          </a:prstGeom>
          <a:solidFill>
            <a:srgbClr val="C6D0D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609600"/>
            <a:ext cx="8394192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59036"/>
            <a:ext cx="839419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spcBef>
                <a:spcPts val="700"/>
              </a:spcBef>
              <a:buNone/>
            </a:pPr>
            <a:r>
              <a:rPr lang="en-US" sz="2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1526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31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90600" y="15731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News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90600" y="18808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perspective · contribution and intellectual responsibility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84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9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0600" y="22589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 / Periodic Labs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90600" y="25666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testimony · process lineage and negative results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42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447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0600" y="29447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0600" y="32524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Practitioner and reviewer testimony · task boundaries, privacy, ethics, and IRB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10050"/>
            <a:ext cx="7746950" cy="0"/>
          </a:xfrm>
          <a:prstGeom prst="line">
            <a:avLst/>
          </a:prstGeom>
          <a:noFill/>
          <a:ln w="9525">
            <a:solidFill>
              <a:srgbClr val="C6D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30513"/>
            <a:ext cx="544068" cy="16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00" b="1" dirty="0">
                <a:solidFill>
                  <a:srgbClr val="0F7C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0600" y="3630513"/>
            <a:ext cx="7254139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b="1" dirty="0">
                <a:solidFill>
                  <a:srgbClr val="1026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0600" y="3938290"/>
            <a:ext cx="725413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case · audit, revision, and withdrawal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79429"/>
            <a:ext cx="8096199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0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Preserve Responsibility by Recording the Research Process</dc:title>
  <dc:subject>Scholar in the Loop audience video visual deck</dc:subject>
  <dc:creator>Zhekai Li</dc:creator>
  <cp:lastModifiedBy>Zhekai Li</cp:lastModifiedBy>
  <cp:revision>1</cp:revision>
  <dcterms:created xsi:type="dcterms:W3CDTF">2026-10-10T20:52:43Z</dcterms:created>
  <dcterms:modified xsi:type="dcterms:W3CDTF">2026-10-10T20:52:43Z</dcterms:modified>
</cp:coreProperties>
</file>