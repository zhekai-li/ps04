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634901"/>
            <a:ext cx="544068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GOVERNANCE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3400" y="1011287"/>
            <a:ext cx="5440680" cy="796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36"/>
              </a:lnSpc>
              <a:spcBef>
                <a:spcPts val="1600"/>
              </a:spcBef>
              <a:buNone/>
            </a:pPr>
            <a:r>
              <a:rPr lang="en-US" sz="2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 responsibility by recording the process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3400" y="2112318"/>
            <a:ext cx="5052060" cy="90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76"/>
              </a:lnSpc>
              <a:spcBef>
                <a:spcPts val="2400"/>
              </a:spcBef>
              <a:buNone/>
            </a:pPr>
            <a:r>
              <a:rPr lang="en-US" sz="18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Disclosure says AI was used. A process record shows what happened and who made the consequential decisions.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77000" y="0"/>
            <a:ext cx="2667000" cy="5143500"/>
          </a:xfrm>
          <a:prstGeom prst="rect">
            <a:avLst/>
          </a:prstGeom>
          <a:solidFill>
            <a:srgbClr val="182433"/>
          </a:solidFill>
          <a:ln w="9525">
            <a:solidFill>
              <a:srgbClr val="1824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791325" y="572988"/>
            <a:ext cx="20574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91325" y="3681115"/>
            <a:ext cx="20574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91325" y="1347639"/>
            <a:ext cx="20574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91325" y="717352"/>
            <a:ext cx="209854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D8E3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791325" y="953988"/>
            <a:ext cx="2098548" cy="283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spcBef>
                <a:spcPts val="5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Mapped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791325" y="2122289"/>
            <a:ext cx="20574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91325" y="1492002"/>
            <a:ext cx="209854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D8E3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91325" y="1728639"/>
            <a:ext cx="2098548" cy="283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spcBef>
                <a:spcPts val="5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Accepted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791325" y="2896939"/>
            <a:ext cx="20574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91325" y="2266652"/>
            <a:ext cx="209854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D8E3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91325" y="2503289"/>
            <a:ext cx="2098548" cy="283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spcBef>
                <a:spcPts val="5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791325" y="3041303"/>
            <a:ext cx="209854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B58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91325" y="3277939"/>
            <a:ext cx="2098548" cy="283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spcBef>
                <a:spcPts val="5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 owned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791325" y="4407098"/>
            <a:ext cx="2079117" cy="39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D8DD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presentation</a:t>
            </a:r>
            <a:endParaRPr lang="en-US" sz="1100" dirty="0"/>
          </a:p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D8DD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reviewed by Zhekai Li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3400" y="4563963"/>
            <a:ext cx="38862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152400"/>
            <a:ext cx="336793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890260" y="152400"/>
            <a:ext cx="27203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GOVERNANCE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3400" y="431750"/>
            <a:ext cx="8077200" cy="12650"/>
          </a:xfrm>
          <a:prstGeom prst="rect">
            <a:avLst/>
          </a:prstGeom>
          <a:solidFill>
            <a:srgbClr val="CDD2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698450"/>
            <a:ext cx="82387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DISCLOSURE IS NOT LINEAGE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3400" y="998637"/>
            <a:ext cx="8238744" cy="796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36"/>
              </a:lnSpc>
              <a:spcBef>
                <a:spcPts val="1000"/>
              </a:spcBef>
              <a:buNone/>
            </a:pPr>
            <a:r>
              <a:rPr lang="en-US" sz="2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Responsibility requires an inspectable chain of decisions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33400" y="1765250"/>
            <a:ext cx="1905000" cy="1955750"/>
          </a:xfrm>
          <a:prstGeom prst="roundRect">
            <a:avLst>
              <a:gd name="adj" fmla="val 1333"/>
            </a:avLst>
          </a:prstGeom>
          <a:solidFill>
            <a:srgbClr val="F0E8DA"/>
          </a:solidFill>
          <a:ln w="9525">
            <a:solidFill>
              <a:srgbClr val="F0E8D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71525" y="2054126"/>
            <a:ext cx="355550" cy="38100"/>
          </a:xfrm>
          <a:prstGeom prst="rect">
            <a:avLst/>
          </a:prstGeom>
          <a:solidFill>
            <a:srgbClr val="2F6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71525" y="2371576"/>
            <a:ext cx="1457325" cy="283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spcBef>
                <a:spcPts val="22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used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1525" y="2832646"/>
            <a:ext cx="1457325" cy="19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spcBef>
                <a:spcPts val="14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label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90800" y="1765250"/>
            <a:ext cx="1905000" cy="195575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828925" y="2054126"/>
            <a:ext cx="355550" cy="38100"/>
          </a:xfrm>
          <a:prstGeom prst="rect">
            <a:avLst/>
          </a:prstGeom>
          <a:solidFill>
            <a:srgbClr val="2F6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828925" y="2371576"/>
            <a:ext cx="1457325" cy="566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spcBef>
                <a:spcPts val="22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bounded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828925" y="3116014"/>
            <a:ext cx="1457325" cy="19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spcBef>
                <a:spcPts val="14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did what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48200" y="1765250"/>
            <a:ext cx="1905000" cy="195575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86325" y="2054126"/>
            <a:ext cx="355550" cy="38100"/>
          </a:xfrm>
          <a:prstGeom prst="rect">
            <a:avLst/>
          </a:prstGeom>
          <a:solidFill>
            <a:srgbClr val="2F6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86325" y="2371576"/>
            <a:ext cx="1457325" cy="566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spcBef>
                <a:spcPts val="22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 checked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86325" y="3116014"/>
            <a:ext cx="1457325" cy="19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spcBef>
                <a:spcPts val="14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entered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05600" y="1765250"/>
            <a:ext cx="1905000" cy="1955750"/>
          </a:xfrm>
          <a:prstGeom prst="roundRect">
            <a:avLst>
              <a:gd name="adj" fmla="val 1333"/>
            </a:avLst>
          </a:prstGeom>
          <a:solidFill>
            <a:srgbClr val="182433"/>
          </a:solidFill>
          <a:ln w="9525">
            <a:solidFill>
              <a:srgbClr val="1824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943725" y="2054126"/>
            <a:ext cx="355550" cy="38100"/>
          </a:xfrm>
          <a:prstGeom prst="rect">
            <a:avLst/>
          </a:prstGeom>
          <a:solidFill>
            <a:srgbClr val="B58A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943725" y="2371576"/>
            <a:ext cx="1457325" cy="566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spcBef>
                <a:spcPts val="22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defended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43725" y="3116014"/>
            <a:ext cx="1457325" cy="19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spcBef>
                <a:spcPts val="1400"/>
              </a:spcBef>
              <a:buNone/>
            </a:pPr>
            <a:r>
              <a:rPr lang="en-US" sz="1100" dirty="0">
                <a:solidFill>
                  <a:srgbClr val="D8DD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 accountable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3400" y="4462611"/>
            <a:ext cx="8238744" cy="19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expert perspective · contribution and intellectual responsibility must remain visible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152400"/>
            <a:ext cx="336793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890260" y="152400"/>
            <a:ext cx="27203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GOVERNANCE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3400" y="431750"/>
            <a:ext cx="8077200" cy="12650"/>
          </a:xfrm>
          <a:prstGeom prst="rect">
            <a:avLst/>
          </a:prstGeom>
          <a:solidFill>
            <a:srgbClr val="CDD2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698450"/>
            <a:ext cx="82387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 THE DIVISION OF LABOR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3400" y="998637"/>
            <a:ext cx="8238744" cy="796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36"/>
              </a:lnSpc>
              <a:spcBef>
                <a:spcPts val="1000"/>
              </a:spcBef>
              <a:buNone/>
            </a:pPr>
            <a:r>
              <a:rPr lang="en-US" sz="2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Delegate operations. Retain scientific judgment.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33400" y="1765250"/>
            <a:ext cx="3949601" cy="2209800"/>
          </a:xfrm>
          <a:prstGeom prst="roundRect">
            <a:avLst>
              <a:gd name="adj" fmla="val 1149"/>
            </a:avLst>
          </a:prstGeom>
          <a:solidFill>
            <a:srgbClr val="E7EFEE"/>
          </a:solidFill>
          <a:ln w="9525">
            <a:solidFill>
              <a:srgbClr val="E7EFE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22275" y="2066776"/>
            <a:ext cx="343928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· REVERSIBLE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275" y="2567732"/>
            <a:ext cx="228600" cy="25301"/>
          </a:xfrm>
          <a:prstGeom prst="rect">
            <a:avLst/>
          </a:prstGeom>
          <a:solidFill>
            <a:srgbClr val="2F6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203275" y="2481263"/>
            <a:ext cx="902631" cy="19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terms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275" y="2905720"/>
            <a:ext cx="228600" cy="25301"/>
          </a:xfrm>
          <a:prstGeom prst="rect">
            <a:avLst/>
          </a:prstGeom>
          <a:solidFill>
            <a:srgbClr val="2F6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203275" y="2819251"/>
            <a:ext cx="1298082" cy="19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 clustering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275" y="3243709"/>
            <a:ext cx="228600" cy="25301"/>
          </a:xfrm>
          <a:prstGeom prst="rect">
            <a:avLst/>
          </a:prstGeom>
          <a:solidFill>
            <a:srgbClr val="2F6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203275" y="3157240"/>
            <a:ext cx="1163279" cy="19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Formatting notes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275" y="3581698"/>
            <a:ext cx="228600" cy="25301"/>
          </a:xfrm>
          <a:prstGeom prst="rect">
            <a:avLst/>
          </a:prstGeom>
          <a:solidFill>
            <a:srgbClr val="2F6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203275" y="3495229"/>
            <a:ext cx="1210794" cy="19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Outline proposals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0999" y="1765250"/>
            <a:ext cx="3949601" cy="2209800"/>
          </a:xfrm>
          <a:prstGeom prst="roundRect">
            <a:avLst>
              <a:gd name="adj" fmla="val 1149"/>
            </a:avLst>
          </a:prstGeom>
          <a:solidFill>
            <a:srgbClr val="182433"/>
          </a:solidFill>
          <a:ln w="9525">
            <a:solidFill>
              <a:srgbClr val="1824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949875" y="2066776"/>
            <a:ext cx="343928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B58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RESEARCHER · ACCOUNTABLE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49875" y="2567732"/>
            <a:ext cx="228600" cy="25301"/>
          </a:xfrm>
          <a:prstGeom prst="rect">
            <a:avLst/>
          </a:prstGeom>
          <a:solidFill>
            <a:srgbClr val="B58A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330875" y="2481263"/>
            <a:ext cx="1392808" cy="19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formulation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49875" y="2905720"/>
            <a:ext cx="228600" cy="25301"/>
          </a:xfrm>
          <a:prstGeom prst="rect">
            <a:avLst/>
          </a:prstGeom>
          <a:solidFill>
            <a:srgbClr val="B58A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330875" y="2819251"/>
            <a:ext cx="1440930" cy="19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acceptance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49875" y="3243709"/>
            <a:ext cx="228600" cy="25301"/>
          </a:xfrm>
          <a:prstGeom prst="rect">
            <a:avLst/>
          </a:prstGeom>
          <a:solidFill>
            <a:srgbClr val="B58A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330875" y="3157240"/>
            <a:ext cx="1836230" cy="19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and interpretation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49875" y="3581698"/>
            <a:ext cx="228600" cy="25301"/>
          </a:xfrm>
          <a:prstGeom prst="rect">
            <a:avLst/>
          </a:prstGeom>
          <a:solidFill>
            <a:srgbClr val="B58A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330875" y="3495229"/>
            <a:ext cx="815495" cy="19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claims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3400" y="4462611"/>
            <a:ext cx="8238744" cy="19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SciSpace practitioner testimony · a useful boundary, not product validation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152400"/>
            <a:ext cx="336793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890260" y="152400"/>
            <a:ext cx="27203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GOVERNANCE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3400" y="431750"/>
            <a:ext cx="8077200" cy="12650"/>
          </a:xfrm>
          <a:prstGeom prst="rect">
            <a:avLst/>
          </a:prstGeom>
          <a:solidFill>
            <a:srgbClr val="CDD2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698450"/>
            <a:ext cx="82387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THE PROCESS, NOT ONLY THE RESULT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3400" y="998637"/>
            <a:ext cx="8238744" cy="796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36"/>
              </a:lnSpc>
              <a:spcBef>
                <a:spcPts val="1000"/>
              </a:spcBef>
              <a:buNone/>
            </a:pPr>
            <a:r>
              <a:rPr lang="en-US" sz="2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paths explain how the final path emerged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58701" y="2057251"/>
            <a:ext cx="1574750" cy="126995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71376" y="2320677"/>
            <a:ext cx="117238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1376" y="2697063"/>
            <a:ext cx="1172388" cy="283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spcBef>
                <a:spcPts val="16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231225" y="2514451"/>
            <a:ext cx="380119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709118" y="2057251"/>
            <a:ext cx="1574750" cy="1269950"/>
          </a:xfrm>
          <a:prstGeom prst="roundRect">
            <a:avLst>
              <a:gd name="adj" fmla="val 2000"/>
            </a:avLst>
          </a:prstGeom>
          <a:solidFill>
            <a:srgbClr val="F0E8DA"/>
          </a:solidFill>
          <a:ln w="9525">
            <a:solidFill>
              <a:srgbClr val="F0E8D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921794" y="2320677"/>
            <a:ext cx="117238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21794" y="2697063"/>
            <a:ext cx="1172388" cy="283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spcBef>
                <a:spcPts val="16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381641" y="2514451"/>
            <a:ext cx="380271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859685" y="2057251"/>
            <a:ext cx="1574750" cy="126995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072360" y="2320677"/>
            <a:ext cx="117238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72360" y="2697063"/>
            <a:ext cx="1172388" cy="283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spcBef>
                <a:spcPts val="16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Revised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32208" y="2514451"/>
            <a:ext cx="380271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010251" y="2057251"/>
            <a:ext cx="1574750" cy="1269950"/>
          </a:xfrm>
          <a:prstGeom prst="roundRect">
            <a:avLst>
              <a:gd name="adj" fmla="val 2000"/>
            </a:avLst>
          </a:prstGeom>
          <a:solidFill>
            <a:srgbClr val="182433"/>
          </a:solidFill>
          <a:ln w="9525">
            <a:solidFill>
              <a:srgbClr val="1824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222927" y="2320677"/>
            <a:ext cx="117238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B58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222927" y="2697063"/>
            <a:ext cx="1172388" cy="283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spcBef>
                <a:spcPts val="16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Accepted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3400" y="4462611"/>
            <a:ext cx="8238744" cy="19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Periodic Labs founder testimony · process evidence, not independent performance validation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152400"/>
            <a:ext cx="336793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890260" y="152400"/>
            <a:ext cx="27203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GOVERNANCE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3400" y="431750"/>
            <a:ext cx="8077200" cy="12650"/>
          </a:xfrm>
          <a:prstGeom prst="rect">
            <a:avLst/>
          </a:prstGeom>
          <a:solidFill>
            <a:srgbClr val="CDD2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698450"/>
            <a:ext cx="82387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CORRECTION REQUIRES LINEAGE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3400" y="998637"/>
            <a:ext cx="8238744" cy="796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36"/>
              </a:lnSpc>
              <a:spcBef>
                <a:spcPts val="1000"/>
              </a:spcBef>
              <a:buNone/>
            </a:pPr>
            <a:r>
              <a:rPr lang="en-US" sz="2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audit is useful only if affected claims can be located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58701" y="2031950"/>
            <a:ext cx="1574750" cy="1320701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71376" y="2270075"/>
            <a:ext cx="117238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1376" y="2608362"/>
            <a:ext cx="1172388" cy="566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spcBef>
                <a:spcPts val="13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found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231225" y="2514451"/>
            <a:ext cx="380119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709118" y="2031950"/>
            <a:ext cx="1574750" cy="1320701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921794" y="2270075"/>
            <a:ext cx="117238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21794" y="2608362"/>
            <a:ext cx="1172388" cy="566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spcBef>
                <a:spcPts val="13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Affected work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381641" y="2514451"/>
            <a:ext cx="380271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859685" y="2031950"/>
            <a:ext cx="1574750" cy="1320701"/>
          </a:xfrm>
          <a:prstGeom prst="roundRect">
            <a:avLst>
              <a:gd name="adj" fmla="val 1923"/>
            </a:avLst>
          </a:prstGeom>
          <a:solidFill>
            <a:srgbClr val="F0E8DA"/>
          </a:solidFill>
          <a:ln w="9525">
            <a:solidFill>
              <a:srgbClr val="F0E8D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072360" y="2270075"/>
            <a:ext cx="117238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72360" y="2608362"/>
            <a:ext cx="1172388" cy="850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spcBef>
                <a:spcPts val="13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Repair where possible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32208" y="2514451"/>
            <a:ext cx="380271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010251" y="2031950"/>
            <a:ext cx="1574750" cy="1320701"/>
          </a:xfrm>
          <a:prstGeom prst="roundRect">
            <a:avLst>
              <a:gd name="adj" fmla="val 1923"/>
            </a:avLst>
          </a:prstGeom>
          <a:solidFill>
            <a:srgbClr val="182433"/>
          </a:solidFill>
          <a:ln w="9525">
            <a:solidFill>
              <a:srgbClr val="1824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222927" y="2270075"/>
            <a:ext cx="117238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B58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WITHDRAW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222927" y="2608362"/>
            <a:ext cx="1172388" cy="566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spcBef>
                <a:spcPts val="13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if not fixable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3400" y="4462611"/>
            <a:ext cx="8238744" cy="19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record supports correction. It does not guarantee correctness.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152400"/>
            <a:ext cx="336793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890260" y="152400"/>
            <a:ext cx="27203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GOVERNANCE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3400" y="431750"/>
            <a:ext cx="8077200" cy="12650"/>
          </a:xfrm>
          <a:prstGeom prst="rect">
            <a:avLst/>
          </a:prstGeom>
          <a:solidFill>
            <a:srgbClr val="CDD2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698450"/>
            <a:ext cx="82387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REUSABLE SEVEN-FIELD LOG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3400" y="998637"/>
            <a:ext cx="8238744" cy="796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36"/>
              </a:lnSpc>
              <a:spcBef>
                <a:spcPts val="1000"/>
              </a:spcBef>
              <a:buNone/>
            </a:pPr>
            <a:r>
              <a:rPr lang="en-US" sz="2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enough context to reconstruct the decision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33400" y="1968401"/>
            <a:ext cx="1917650" cy="96515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58726" y="2231827"/>
            <a:ext cx="1496339" cy="283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578001" y="1968401"/>
            <a:ext cx="1917650" cy="96515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803327" y="2231827"/>
            <a:ext cx="1496339" cy="283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22602" y="1968401"/>
            <a:ext cx="1917650" cy="96515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47927" y="2231827"/>
            <a:ext cx="1496339" cy="566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or model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67202" y="1968401"/>
            <a:ext cx="1917650" cy="96515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892528" y="2231827"/>
            <a:ext cx="1496339" cy="283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limits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3400" y="3060502"/>
            <a:ext cx="2603450" cy="96515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58726" y="3323927"/>
            <a:ext cx="2195855" cy="283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used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263801" y="3060502"/>
            <a:ext cx="2603450" cy="96515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489127" y="3323927"/>
            <a:ext cx="2195855" cy="283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994202" y="3060502"/>
            <a:ext cx="2603450" cy="965150"/>
          </a:xfrm>
          <a:prstGeom prst="roundRect">
            <a:avLst>
              <a:gd name="adj" fmla="val 2632"/>
            </a:avLst>
          </a:prstGeom>
          <a:solidFill>
            <a:srgbClr val="182433"/>
          </a:solidFill>
          <a:ln w="9525">
            <a:solidFill>
              <a:srgbClr val="1824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219527" y="3323927"/>
            <a:ext cx="2195855" cy="283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 decision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152400"/>
            <a:ext cx="336793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890260" y="152400"/>
            <a:ext cx="27203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GOVERNANCE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3400" y="431750"/>
            <a:ext cx="8077200" cy="12650"/>
          </a:xfrm>
          <a:prstGeom prst="rect">
            <a:avLst/>
          </a:prstGeom>
          <a:solidFill>
            <a:srgbClr val="CDD2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749201"/>
            <a:ext cx="334213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RECORDS, TWO AUDIENCES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3400" y="1049387"/>
            <a:ext cx="3342132" cy="1194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36"/>
              </a:lnSpc>
              <a:spcBef>
                <a:spcPts val="1000"/>
              </a:spcBef>
              <a:buNone/>
            </a:pPr>
            <a:r>
              <a:rPr lang="en-US" sz="2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lineage is richer than public disclosure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33400" y="2548533"/>
            <a:ext cx="3342132" cy="1206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76"/>
              </a:lnSpc>
              <a:spcBef>
                <a:spcPts val="2400"/>
              </a:spcBef>
              <a:buNone/>
            </a:pPr>
            <a:r>
              <a:rPr lang="en-US" sz="18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journal, university, funder, disciplinary, privacy, ethics, IRB, and IP requirements.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91000" y="990600"/>
            <a:ext cx="4419600" cy="1511201"/>
          </a:xfrm>
          <a:prstGeom prst="roundRect">
            <a:avLst>
              <a:gd name="adj" fmla="val 1681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479875" y="1279475"/>
            <a:ext cx="391868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PROCESS LOG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479875" y="1643211"/>
            <a:ext cx="3918686" cy="283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spcBef>
                <a:spcPts val="15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operational lineage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479875" y="2078980"/>
            <a:ext cx="3918686" cy="39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Prompts, evidence, failed paths, verification, corrections, and decisions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91000" y="2704951"/>
            <a:ext cx="4419600" cy="1511201"/>
          </a:xfrm>
          <a:prstGeom prst="roundRect">
            <a:avLst>
              <a:gd name="adj" fmla="val 1681"/>
            </a:avLst>
          </a:prstGeom>
          <a:solidFill>
            <a:srgbClr val="182433"/>
          </a:solidFill>
          <a:ln w="9525">
            <a:solidFill>
              <a:srgbClr val="1824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479875" y="2993827"/>
            <a:ext cx="391868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B58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DISCLOSURE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79875" y="3357563"/>
            <a:ext cx="3918686" cy="566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spcBef>
                <a:spcPts val="15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assistance, stated proportionally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479875" y="4076700"/>
            <a:ext cx="3918686" cy="19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D8DD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Audience-facing and policy-specific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152400"/>
            <a:ext cx="336793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890260" y="152400"/>
            <a:ext cx="27203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GOVERNANCE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3400" y="431750"/>
            <a:ext cx="8077200" cy="12650"/>
          </a:xfrm>
          <a:prstGeom prst="rect">
            <a:avLst/>
          </a:prstGeom>
          <a:solidFill>
            <a:srgbClr val="CDD2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698450"/>
            <a:ext cx="82387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AND DISCLOSURE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3400" y="998637"/>
            <a:ext cx="8238744" cy="398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36"/>
              </a:lnSpc>
              <a:spcBef>
                <a:spcPts val="1000"/>
              </a:spcBef>
              <a:buNone/>
            </a:pPr>
            <a:r>
              <a:rPr lang="en-US" sz="2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the argument, not just the presentation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3400" y="2293590"/>
            <a:ext cx="7746950" cy="0"/>
          </a:xfrm>
          <a:prstGeom prst="line">
            <a:avLst/>
          </a:prstGeom>
          <a:noFill/>
          <a:ln w="9525">
            <a:solidFill>
              <a:srgbClr val="CDD2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3400" y="1803053"/>
            <a:ext cx="126950" cy="25301"/>
          </a:xfrm>
          <a:prstGeom prst="rect">
            <a:avLst/>
          </a:prstGeom>
          <a:solidFill>
            <a:srgbClr val="2F6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62000" y="1764953"/>
            <a:ext cx="7565035" cy="283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News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62000" y="2086421"/>
            <a:ext cx="7565035" cy="19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spcBef>
                <a:spcPts val="3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perspective · contribution and intellectual responsibility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3400" y="2941290"/>
            <a:ext cx="7746950" cy="0"/>
          </a:xfrm>
          <a:prstGeom prst="line">
            <a:avLst/>
          </a:prstGeom>
          <a:noFill/>
          <a:ln w="9525">
            <a:solidFill>
              <a:srgbClr val="CDD2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3400" y="2450753"/>
            <a:ext cx="126950" cy="25301"/>
          </a:xfrm>
          <a:prstGeom prst="rect">
            <a:avLst/>
          </a:prstGeom>
          <a:solidFill>
            <a:srgbClr val="2F6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62000" y="2412653"/>
            <a:ext cx="7565035" cy="283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Latent Space / Periodic Labs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62000" y="2734121"/>
            <a:ext cx="7565035" cy="19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spcBef>
                <a:spcPts val="3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testimony · process lineage and negative results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3400" y="3588990"/>
            <a:ext cx="7746950" cy="0"/>
          </a:xfrm>
          <a:prstGeom prst="line">
            <a:avLst/>
          </a:prstGeom>
          <a:noFill/>
          <a:ln w="9525">
            <a:solidFill>
              <a:srgbClr val="CDD2D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3400" y="3098453"/>
            <a:ext cx="126950" cy="25301"/>
          </a:xfrm>
          <a:prstGeom prst="rect">
            <a:avLst/>
          </a:prstGeom>
          <a:solidFill>
            <a:srgbClr val="2F6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62000" y="3060353"/>
            <a:ext cx="7565035" cy="283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SciSpace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62000" y="3381821"/>
            <a:ext cx="7565035" cy="19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spcBef>
                <a:spcPts val="3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Practitioner and reviewer testimony · task boundaries, privacy, ethics, and IRB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33400" y="4236690"/>
            <a:ext cx="7746950" cy="0"/>
          </a:xfrm>
          <a:prstGeom prst="line">
            <a:avLst/>
          </a:prstGeom>
          <a:noFill/>
          <a:ln w="9525">
            <a:solidFill>
              <a:srgbClr val="CDD2D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3400" y="3746153"/>
            <a:ext cx="126950" cy="25301"/>
          </a:xfrm>
          <a:prstGeom prst="rect">
            <a:avLst/>
          </a:prstGeom>
          <a:solidFill>
            <a:srgbClr val="2F6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62000" y="3708053"/>
            <a:ext cx="7565035" cy="283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Retraction Watch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62000" y="4029521"/>
            <a:ext cx="7565035" cy="19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spcBef>
                <a:spcPts val="3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case · audit, revision, and withdrawal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3400" y="4462611"/>
            <a:ext cx="8238744" cy="19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URLs and timestamps appear in the YouTube description and linked article.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Scholar in the Loop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Preserve Responsibility by Recording the Research Process</dc:title>
  <dc:subject>Scholar in the Loop audience video visual deck</dc:subject>
  <dc:creator>Zhekai Li</dc:creator>
  <cp:lastModifiedBy>Zhekai Li</cp:lastModifiedBy>
  <cp:revision>1</cp:revision>
  <dcterms:created xsi:type="dcterms:W3CDTF">2026-10-10T22:30:30Z</dcterms:created>
  <dcterms:modified xsi:type="dcterms:W3CDTF">2026-10-10T22:30:30Z</dcterms:modified>
</cp:coreProperties>
</file>