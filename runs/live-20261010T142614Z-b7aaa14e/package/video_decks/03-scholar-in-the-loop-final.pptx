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58701"/>
            <a:ext cx="5440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88802"/>
            <a:ext cx="5440680" cy="83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spcBef>
                <a:spcPts val="1400"/>
              </a:spcBef>
              <a:buNone/>
            </a:pPr>
            <a:r>
              <a:rPr lang="en-US" sz="31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responsibility by recording the process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457200" y="1951732"/>
            <a:ext cx="4987239" cy="78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spcBef>
                <a:spcPts val="1800"/>
              </a:spcBef>
              <a:buNone/>
            </a:pPr>
            <a:r>
              <a:rPr lang="en-US" sz="16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Disclosure says AI was used. A process record shows what happened—and who made the consequential decisions.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77000" y="0"/>
            <a:ext cx="2667000" cy="5143500"/>
          </a:xfrm>
          <a:prstGeom prst="roundRect">
            <a:avLst>
              <a:gd name="adj" fmla="val 4762"/>
            </a:avLst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42075" y="619125"/>
            <a:ext cx="1955750" cy="609600"/>
          </a:xfrm>
          <a:prstGeom prst="roundRect">
            <a:avLst>
              <a:gd name="adj" fmla="val 14583"/>
            </a:avLst>
          </a:prstGeom>
          <a:noFill/>
          <a:ln w="9525">
            <a:solidFill>
              <a:srgbClr val="DDF3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04000" y="755600"/>
            <a:ext cx="16645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D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04000" y="927050"/>
            <a:ext cx="16645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42075" y="1355675"/>
            <a:ext cx="1955750" cy="609600"/>
          </a:xfrm>
          <a:prstGeom prst="roundRect">
            <a:avLst>
              <a:gd name="adj" fmla="val 14583"/>
            </a:avLst>
          </a:prstGeom>
          <a:noFill/>
          <a:ln w="9525">
            <a:solidFill>
              <a:srgbClr val="DDF3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04000" y="1492151"/>
            <a:ext cx="16645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D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004000" y="1663601"/>
            <a:ext cx="16645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42075" y="2092226"/>
            <a:ext cx="1955750" cy="609600"/>
          </a:xfrm>
          <a:prstGeom prst="roundRect">
            <a:avLst>
              <a:gd name="adj" fmla="val 14583"/>
            </a:avLst>
          </a:prstGeom>
          <a:noFill/>
          <a:ln w="9525">
            <a:solidFill>
              <a:srgbClr val="DDF3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04000" y="2228701"/>
            <a:ext cx="16645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D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04000" y="2400151"/>
            <a:ext cx="16645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42075" y="2828776"/>
            <a:ext cx="1955750" cy="609600"/>
          </a:xfrm>
          <a:prstGeom prst="roundRect">
            <a:avLst>
              <a:gd name="adj" fmla="val 14583"/>
            </a:avLst>
          </a:prstGeom>
          <a:solidFill>
            <a:srgbClr val="EAA9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94475" y="2955727"/>
            <a:ext cx="16839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94475" y="3127177"/>
            <a:ext cx="16839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owned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16626" y="4091732"/>
            <a:ext cx="198774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6626" y="4248894"/>
            <a:ext cx="2027503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presentation</a:t>
            </a:r>
            <a:endParaRPr lang="en-US" sz="1100" dirty="0"/>
          </a:p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reviewed by Zhekai Li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492675"/>
            <a:ext cx="45337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AUDIENCE VIDEO · 3–5 MINUTES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03 ·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DISCLOSURE IS NOT LINEAGE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Responsibility requires an inspectable chain of decisions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04851"/>
            <a:ext cx="1777901" cy="1650950"/>
          </a:xfrm>
          <a:prstGeom prst="roundRect">
            <a:avLst>
              <a:gd name="adj" fmla="val 6154"/>
            </a:avLst>
          </a:prstGeom>
          <a:solidFill>
            <a:srgbClr val="F4D7D0"/>
          </a:solidFill>
          <a:ln w="9525">
            <a:solidFill>
              <a:srgbClr val="E1A5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36575" y="2117527"/>
            <a:ext cx="1457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86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36575" y="2539752"/>
            <a:ext cx="14573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buNone/>
            </a:pPr>
            <a:r>
              <a:rPr lang="en-US" sz="1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6575" y="2923877"/>
            <a:ext cx="1457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0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label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92301" y="1904851"/>
            <a:ext cx="1777901" cy="16509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66876" y="2117527"/>
            <a:ext cx="1457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66876" y="2539752"/>
            <a:ext cx="14573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buNone/>
            </a:pPr>
            <a:r>
              <a:rPr lang="en-US" sz="1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bounded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866876" y="3181052"/>
            <a:ext cx="1457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0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did what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22602" y="1904851"/>
            <a:ext cx="1777901" cy="16509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97177" y="2117527"/>
            <a:ext cx="1457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97177" y="2539752"/>
            <a:ext cx="14573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buNone/>
            </a:pPr>
            <a:r>
              <a:rPr lang="en-US" sz="1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checked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97177" y="3181052"/>
            <a:ext cx="1457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0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entered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52902" y="1904851"/>
            <a:ext cx="1777901" cy="1650950"/>
          </a:xfrm>
          <a:prstGeom prst="roundRect">
            <a:avLst>
              <a:gd name="adj" fmla="val 6154"/>
            </a:avLst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27478" y="2117527"/>
            <a:ext cx="1457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AA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27478" y="2539752"/>
            <a:ext cx="14573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defended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727478" y="3181052"/>
            <a:ext cx="1457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000" dirty="0">
                <a:solidFill>
                  <a:srgbClr val="E8ED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accountable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446984"/>
            <a:ext cx="751326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expert perspective · contribution and intellectual responsibility must remain visible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03 ·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 THE DIVISION OF LABOR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 operations. Retain scientific judgment.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57200" y="1676400"/>
            <a:ext cx="3810000" cy="2260550"/>
          </a:xfrm>
          <a:prstGeom prst="roundRect">
            <a:avLst>
              <a:gd name="adj" fmla="val 4494"/>
            </a:avLst>
          </a:prstGeom>
          <a:solidFill>
            <a:srgbClr val="DDF3ED"/>
          </a:solidFill>
          <a:ln w="9525">
            <a:solidFill>
              <a:srgbClr val="A9D8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0626" y="1939826"/>
            <a:ext cx="33488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LANE · REVERSIBLE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20626" y="231130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67D7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57202" y="2349401"/>
            <a:ext cx="1554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63526" y="2311301"/>
            <a:ext cx="1148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terms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0626" y="265420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67D7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57202" y="2692301"/>
            <a:ext cx="1554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63526" y="2654201"/>
            <a:ext cx="16522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clustering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0626" y="299710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67D7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57202" y="3035201"/>
            <a:ext cx="1554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3526" y="2997101"/>
            <a:ext cx="1480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Formatting notes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0626" y="334000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67D7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57202" y="3378101"/>
            <a:ext cx="1554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3526" y="3340001"/>
            <a:ext cx="15412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 proposals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76800" y="1676400"/>
            <a:ext cx="3810000" cy="2260550"/>
          </a:xfrm>
          <a:prstGeom prst="roundRect">
            <a:avLst>
              <a:gd name="adj" fmla="val 4494"/>
            </a:avLst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140226" y="1939826"/>
            <a:ext cx="33488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AA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 LANE · ACCOUNTABLE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40226" y="231130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AA9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76802" y="2349401"/>
            <a:ext cx="1554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3126" y="2311301"/>
            <a:ext cx="177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formulation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40226" y="265420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AA9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176802" y="2692301"/>
            <a:ext cx="1554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3126" y="2654201"/>
            <a:ext cx="1834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acceptance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40226" y="299710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AA9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176802" y="3035201"/>
            <a:ext cx="1554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3126" y="2997101"/>
            <a:ext cx="21457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&amp; interpretation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40226" y="334000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AA9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176802" y="3378101"/>
            <a:ext cx="1554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3126" y="3340001"/>
            <a:ext cx="10378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claims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4446984"/>
            <a:ext cx="751326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SciSpace practitioner testimony · useful boundary, not product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03 ·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THE PROCESS, NOT ONLY THE RESULT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paths explain how the final path emerged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09600" y="2095351"/>
            <a:ext cx="1498550" cy="1193750"/>
          </a:xfrm>
          <a:prstGeom prst="roundRect">
            <a:avLst>
              <a:gd name="adj" fmla="val 10639"/>
            </a:avLst>
          </a:prstGeom>
          <a:solidFill>
            <a:srgbClr val="DDF3ED"/>
          </a:solidFill>
          <a:ln w="9525">
            <a:solidFill>
              <a:srgbClr val="A9D8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8726" y="2308027"/>
            <a:ext cx="12243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58726" y="2612827"/>
            <a:ext cx="122430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222450" y="251445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228610" y="2596902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92301" y="2095351"/>
            <a:ext cx="1498550" cy="1193750"/>
          </a:xfrm>
          <a:prstGeom prst="roundRect">
            <a:avLst>
              <a:gd name="adj" fmla="val 10639"/>
            </a:avLst>
          </a:prstGeom>
          <a:solidFill>
            <a:srgbClr val="F4D7D0"/>
          </a:solidFill>
          <a:ln w="9525">
            <a:solidFill>
              <a:srgbClr val="E1A5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41427" y="2308027"/>
            <a:ext cx="12243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841427" y="2612827"/>
            <a:ext cx="122430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305151" y="251445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311311" y="2596902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75002" y="2095351"/>
            <a:ext cx="1498550" cy="1193750"/>
          </a:xfrm>
          <a:prstGeom prst="roundRect">
            <a:avLst>
              <a:gd name="adj" fmla="val 10639"/>
            </a:avLst>
          </a:prstGeom>
          <a:solidFill>
            <a:srgbClr val="F7E7C8"/>
          </a:solidFill>
          <a:ln w="9525">
            <a:solidFill>
              <a:srgbClr val="E5C98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24127" y="2308027"/>
            <a:ext cx="12243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24127" y="2612827"/>
            <a:ext cx="122430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87852" y="251445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94012" y="2596902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7702" y="2095351"/>
            <a:ext cx="1498550" cy="1193750"/>
          </a:xfrm>
          <a:prstGeom prst="roundRect">
            <a:avLst>
              <a:gd name="adj" fmla="val 10639"/>
            </a:avLst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006828" y="2308027"/>
            <a:ext cx="12243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AA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006828" y="2612827"/>
            <a:ext cx="122430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57200" y="4446984"/>
            <a:ext cx="790188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Periodic Labs founder testimony · process evidence, not independent performance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03 ·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 REQUIRES LINEAGE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audit is useful only if affected claims can be located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09600" y="2082701"/>
            <a:ext cx="1498550" cy="1193750"/>
          </a:xfrm>
          <a:prstGeom prst="roundRect">
            <a:avLst>
              <a:gd name="adj" fmla="val 1063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8726" y="2282726"/>
            <a:ext cx="12243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58726" y="2578001"/>
            <a:ext cx="1224305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spcBef>
                <a:spcPts val="1200"/>
              </a:spcBef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found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22450" y="250180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228610" y="2584252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92301" y="2082701"/>
            <a:ext cx="1498550" cy="1193750"/>
          </a:xfrm>
          <a:prstGeom prst="roundRect">
            <a:avLst>
              <a:gd name="adj" fmla="val 1063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41427" y="2282726"/>
            <a:ext cx="12243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41427" y="2578001"/>
            <a:ext cx="1224305" cy="379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spcBef>
                <a:spcPts val="1200"/>
              </a:spcBef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 located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05151" y="250180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311311" y="2584252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75002" y="2082701"/>
            <a:ext cx="1498550" cy="1193750"/>
          </a:xfrm>
          <a:prstGeom prst="roundRect">
            <a:avLst>
              <a:gd name="adj" fmla="val 10639"/>
            </a:avLst>
          </a:prstGeom>
          <a:solidFill>
            <a:srgbClr val="F7E7C8"/>
          </a:solidFill>
          <a:ln w="9525">
            <a:solidFill>
              <a:srgbClr val="E5C98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24127" y="2282726"/>
            <a:ext cx="12243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24127" y="2578001"/>
            <a:ext cx="1224305" cy="379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spcBef>
                <a:spcPts val="1200"/>
              </a:spcBef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where possible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87852" y="250180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94012" y="2584252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7702" y="2082701"/>
            <a:ext cx="1498550" cy="1193750"/>
          </a:xfrm>
          <a:prstGeom prst="roundRect">
            <a:avLst>
              <a:gd name="adj" fmla="val 10639"/>
            </a:avLst>
          </a:prstGeom>
          <a:solidFill>
            <a:srgbClr val="F4D7D0"/>
          </a:solidFill>
          <a:ln w="9525">
            <a:solidFill>
              <a:srgbClr val="E1A5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006828" y="2282726"/>
            <a:ext cx="12243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WITHDRAW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06828" y="2578001"/>
            <a:ext cx="1224305" cy="379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spcBef>
                <a:spcPts val="1200"/>
              </a:spcBef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if not fixable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446984"/>
            <a:ext cx="751326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record supports correction. It does not guarantee correctness.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03 · 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REUSABLE SEVEN-FIELD LOG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enough context to reconstruct the decision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57200" y="1676400"/>
            <a:ext cx="1828800" cy="99060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1775" y="1850975"/>
            <a:ext cx="15092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1775" y="2146250"/>
            <a:ext cx="150924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5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400300" y="1676400"/>
            <a:ext cx="1828800" cy="99060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74875" y="1850975"/>
            <a:ext cx="15092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74875" y="2146250"/>
            <a:ext cx="150924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5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43400" y="1676400"/>
            <a:ext cx="1828800" cy="99060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17975" y="1850975"/>
            <a:ext cx="15092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17975" y="2146250"/>
            <a:ext cx="150924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5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/ model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86500" y="1676400"/>
            <a:ext cx="2286000" cy="99060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61075" y="1850975"/>
            <a:ext cx="19755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61075" y="2146250"/>
            <a:ext cx="197558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5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&amp; restrictions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2838450"/>
            <a:ext cx="1828800" cy="99060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1775" y="3013025"/>
            <a:ext cx="15092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1775" y="3308300"/>
            <a:ext cx="150924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5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used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400300" y="2838450"/>
            <a:ext cx="1828800" cy="99060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574875" y="3013025"/>
            <a:ext cx="15092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74875" y="3308300"/>
            <a:ext cx="150924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5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343400" y="2838450"/>
            <a:ext cx="1828800" cy="990600"/>
          </a:xfrm>
          <a:prstGeom prst="roundRect">
            <a:avLst>
              <a:gd name="adj" fmla="val 8974"/>
            </a:avLst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517975" y="3013025"/>
            <a:ext cx="15092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AA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17975" y="3308300"/>
            <a:ext cx="150924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decision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03 · 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33679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RECORDS, TWO AUDIENCES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251"/>
            <a:ext cx="3367939" cy="1151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800"/>
              </a:spcBef>
              <a:buNone/>
            </a:pPr>
            <a:r>
              <a:rPr lang="en-US" sz="28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lineage is richer than public disclosure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294781"/>
            <a:ext cx="3367939" cy="78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spcBef>
                <a:spcPts val="1800"/>
              </a:spcBef>
              <a:buNone/>
            </a:pPr>
            <a:r>
              <a:rPr lang="en-US" sz="16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journal, university, funder, disciplinary, privacy, ethics, IRB, and IP requirements.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95800" y="888950"/>
            <a:ext cx="4191000" cy="1600200"/>
          </a:xfrm>
          <a:prstGeom prst="roundRect">
            <a:avLst>
              <a:gd name="adj" fmla="val 7936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46575" y="1139726"/>
            <a:ext cx="37632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PROCESS LOG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46575" y="1422202"/>
            <a:ext cx="376323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buNone/>
            </a:pPr>
            <a:r>
              <a:rPr lang="en-US" sz="19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operational lineage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746575" y="1825377"/>
            <a:ext cx="3763238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· evidence · failed paths · verification · corrections · decisions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95800" y="2641550"/>
            <a:ext cx="4191000" cy="1600200"/>
          </a:xfrm>
          <a:prstGeom prst="roundRect">
            <a:avLst>
              <a:gd name="adj" fmla="val 7936"/>
            </a:avLst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46575" y="2892326"/>
            <a:ext cx="37632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AA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DISCLOSURE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46575" y="3187601"/>
            <a:ext cx="376323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assistance,</a:t>
            </a:r>
            <a:endParaRPr lang="en-US" sz="1800" dirty="0"/>
          </a:p>
          <a:p>
            <a:pPr algn="l" indent="0" marL="0">
              <a:spcBef>
                <a:spcPts val="120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proportionally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46575" y="3835301"/>
            <a:ext cx="376323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Bef>
                <a:spcPts val="900"/>
              </a:spcBef>
              <a:buNone/>
            </a:pPr>
            <a:r>
              <a:rPr lang="en-US" sz="1000" dirty="0">
                <a:solidFill>
                  <a:srgbClr val="E8ED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Audience-facing and policy-specific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03 ·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&amp; DISCLOSURE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6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the argument, not just the presentation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514326"/>
            <a:ext cx="5440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90600" y="2034480"/>
            <a:ext cx="6794450" cy="0"/>
          </a:xfrm>
          <a:prstGeom prst="line">
            <a:avLst/>
          </a:prstGeom>
          <a:noFill/>
          <a:ln w="9525">
            <a:solidFill>
              <a:srgbClr val="B9C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0600" y="1514326"/>
            <a:ext cx="69303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News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0600" y="1739652"/>
            <a:ext cx="693033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perspective · contribution and intellectual responsibility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153543"/>
            <a:ext cx="5440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90600" y="2673697"/>
            <a:ext cx="6794450" cy="0"/>
          </a:xfrm>
          <a:prstGeom prst="line">
            <a:avLst/>
          </a:prstGeom>
          <a:noFill/>
          <a:ln w="9525">
            <a:solidFill>
              <a:srgbClr val="B9C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0600" y="2153543"/>
            <a:ext cx="69303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Space / Periodic Labs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90600" y="2378869"/>
            <a:ext cx="693033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Commercially interested founder testimony · process lineage and negative results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792760"/>
            <a:ext cx="5440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90600" y="3312914"/>
            <a:ext cx="6794450" cy="0"/>
          </a:xfrm>
          <a:prstGeom prst="line">
            <a:avLst/>
          </a:prstGeom>
          <a:noFill/>
          <a:ln w="9525">
            <a:solidFill>
              <a:srgbClr val="B9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0600" y="2792760"/>
            <a:ext cx="69303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SciSpace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90600" y="3018086"/>
            <a:ext cx="693033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Practitioner and reviewer testimony · task boundaries, privacy, ethics, and IRB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431977"/>
            <a:ext cx="5440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90600" y="3952131"/>
            <a:ext cx="6794450" cy="0"/>
          </a:xfrm>
          <a:prstGeom prst="line">
            <a:avLst/>
          </a:prstGeom>
          <a:noFill/>
          <a:ln w="9525">
            <a:solidFill>
              <a:srgbClr val="B9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0600" y="3431977"/>
            <a:ext cx="69303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Retraction Watch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90600" y="3657302"/>
            <a:ext cx="693033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case · audit, revision, and withdrawal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472434"/>
            <a:ext cx="647689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URLs and timestamps appear in the YouTube description and linked article.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Scholar in the Loop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Preserve Responsibility by Recording the Research Process</dc:title>
  <dc:subject>Scholar in the Loop audience video visual deck</dc:subject>
  <dc:creator>Zhekai Li</dc:creator>
  <cp:lastModifiedBy>Zhekai Li</cp:lastModifiedBy>
  <cp:revision>1</cp:revision>
  <dcterms:created xsi:type="dcterms:W3CDTF">2026-10-10T19:22:26Z</dcterms:created>
  <dcterms:modified xsi:type="dcterms:W3CDTF">2026-10-10T19:22:26Z</dcterms:modified>
</cp:coreProperties>
</file>