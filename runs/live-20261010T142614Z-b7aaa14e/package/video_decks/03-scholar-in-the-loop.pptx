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58701"/>
            <a:ext cx="54406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GOVERNANCE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888802"/>
            <a:ext cx="5440680" cy="834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86"/>
              </a:lnSpc>
              <a:spcBef>
                <a:spcPts val="1400"/>
              </a:spcBef>
              <a:buNone/>
            </a:pPr>
            <a:r>
              <a:rPr lang="en-US" sz="31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Preserve responsibility by recording the process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457200" y="1951732"/>
            <a:ext cx="4987239" cy="780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8"/>
              </a:lnSpc>
              <a:spcBef>
                <a:spcPts val="1800"/>
              </a:spcBef>
              <a:buNone/>
            </a:pPr>
            <a:r>
              <a:rPr lang="en-US" sz="1600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Disclosure says AI was used. A process record shows what happened—and who made the consequential decisions.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77000" y="0"/>
            <a:ext cx="2667000" cy="5143500"/>
          </a:xfrm>
          <a:prstGeom prst="roundRect">
            <a:avLst>
              <a:gd name="adj" fmla="val 4762"/>
            </a:avLst>
          </a:prstGeom>
          <a:solidFill>
            <a:srgbClr val="17324D"/>
          </a:solidFill>
          <a:ln w="9525">
            <a:solidFill>
              <a:srgbClr val="17324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842075" y="619125"/>
            <a:ext cx="1955750" cy="609600"/>
          </a:xfrm>
          <a:prstGeom prst="roundRect">
            <a:avLst>
              <a:gd name="adj" fmla="val 14583"/>
            </a:avLst>
          </a:prstGeom>
          <a:noFill/>
          <a:ln w="9525">
            <a:solidFill>
              <a:srgbClr val="DDF3E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004000" y="755600"/>
            <a:ext cx="166453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DDF3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004000" y="927050"/>
            <a:ext cx="166453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Mapped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42075" y="1355675"/>
            <a:ext cx="1955750" cy="609600"/>
          </a:xfrm>
          <a:prstGeom prst="roundRect">
            <a:avLst>
              <a:gd name="adj" fmla="val 14583"/>
            </a:avLst>
          </a:prstGeom>
          <a:noFill/>
          <a:ln w="9525">
            <a:solidFill>
              <a:srgbClr val="DDF3E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004000" y="1492151"/>
            <a:ext cx="166453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DDF3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004000" y="1663601"/>
            <a:ext cx="166453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Accepted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42075" y="2092226"/>
            <a:ext cx="1955750" cy="609600"/>
          </a:xfrm>
          <a:prstGeom prst="roundRect">
            <a:avLst>
              <a:gd name="adj" fmla="val 14583"/>
            </a:avLst>
          </a:prstGeom>
          <a:noFill/>
          <a:ln w="9525">
            <a:solidFill>
              <a:srgbClr val="DDF3E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004000" y="2228701"/>
            <a:ext cx="166453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DDF3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004000" y="2400151"/>
            <a:ext cx="166453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42075" y="2828776"/>
            <a:ext cx="1955750" cy="609600"/>
          </a:xfrm>
          <a:prstGeom prst="roundRect">
            <a:avLst>
              <a:gd name="adj" fmla="val 14583"/>
            </a:avLst>
          </a:prstGeom>
          <a:solidFill>
            <a:srgbClr val="EAA94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994475" y="2955727"/>
            <a:ext cx="168396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994475" y="3127177"/>
            <a:ext cx="168396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14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 owned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816626" y="4091732"/>
            <a:ext cx="1987748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16626" y="4248894"/>
            <a:ext cx="2027503" cy="377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AI-assisted presentation</a:t>
            </a:r>
            <a:endParaRPr lang="en-US" sz="1100" dirty="0"/>
          </a:p>
          <a:p>
            <a:pPr algn="l"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reviewed by Zhekai Li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492675"/>
            <a:ext cx="45337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AUDIENCE VIDEO · 3–5 MINUTES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32384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SCHOLAR IN THE LOOP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132320" y="126950"/>
            <a:ext cx="15544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PIECE 03 · 02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04800"/>
            <a:ext cx="8229600" cy="12650"/>
          </a:xfrm>
          <a:prstGeom prst="rect">
            <a:avLst/>
          </a:prstGeom>
          <a:solidFill>
            <a:srgbClr val="B9C4C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660350"/>
            <a:ext cx="839419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DISCLOSURE IS NOT LINEAGE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888950"/>
            <a:ext cx="8394192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27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Responsibility requires an inspectable chain of decisions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762000" y="1904851"/>
            <a:ext cx="1777901" cy="1650950"/>
          </a:xfrm>
          <a:prstGeom prst="roundRect">
            <a:avLst>
              <a:gd name="adj" fmla="val 6154"/>
            </a:avLst>
          </a:prstGeom>
          <a:solidFill>
            <a:srgbClr val="F4D7D0"/>
          </a:solidFill>
          <a:ln w="9525">
            <a:solidFill>
              <a:srgbClr val="E1A5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936575" y="2117527"/>
            <a:ext cx="14573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86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36575" y="2539752"/>
            <a:ext cx="145732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200"/>
              </a:spcBef>
              <a:buNone/>
            </a:pPr>
            <a:r>
              <a:rPr lang="en-US" sz="17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used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36575" y="2923877"/>
            <a:ext cx="14573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buNone/>
            </a:pPr>
            <a:r>
              <a:rPr lang="en-US" sz="1000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label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692301" y="1904851"/>
            <a:ext cx="1777901" cy="165095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B9C4CC"/>
            </a:solidFill>
          </a:ln>
          <a:effectLst>
            <a:outerShdw sx="100000" sy="100000" kx="0" ky="0" algn="bl" rotWithShape="0" blurRad="63500" dist="25400" dir="5400000">
              <a:srgbClr val="132238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866876" y="2117527"/>
            <a:ext cx="14573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866876" y="2539752"/>
            <a:ext cx="145732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200"/>
              </a:spcBef>
              <a:buNone/>
            </a:pPr>
            <a:r>
              <a:rPr lang="en-US" sz="17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Tasks bounded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2866876" y="3181052"/>
            <a:ext cx="14573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buNone/>
            </a:pPr>
            <a:r>
              <a:rPr lang="en-US" sz="1000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did what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622602" y="1904851"/>
            <a:ext cx="1777901" cy="165095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B9C4CC"/>
            </a:solidFill>
          </a:ln>
          <a:effectLst>
            <a:outerShdw sx="100000" sy="100000" kx="0" ky="0" algn="bl" rotWithShape="0" blurRad="63500" dist="25400" dir="5400000">
              <a:srgbClr val="132238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797177" y="2117527"/>
            <a:ext cx="14573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97177" y="2539752"/>
            <a:ext cx="145732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200"/>
              </a:spcBef>
              <a:buNone/>
            </a:pPr>
            <a:r>
              <a:rPr lang="en-US" sz="17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Outputs checked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797177" y="3181052"/>
            <a:ext cx="14573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buNone/>
            </a:pPr>
            <a:r>
              <a:rPr lang="en-US" sz="1000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entered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552902" y="1904851"/>
            <a:ext cx="1777901" cy="1650950"/>
          </a:xfrm>
          <a:prstGeom prst="roundRect">
            <a:avLst>
              <a:gd name="adj" fmla="val 6154"/>
            </a:avLst>
          </a:prstGeom>
          <a:solidFill>
            <a:srgbClr val="17324D"/>
          </a:solidFill>
          <a:ln w="9525">
            <a:solidFill>
              <a:srgbClr val="17324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727478" y="2117527"/>
            <a:ext cx="14573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AA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727478" y="2539752"/>
            <a:ext cx="145732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200"/>
              </a:spcBef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Claims defended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727478" y="3181052"/>
            <a:ext cx="14573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buNone/>
            </a:pPr>
            <a:r>
              <a:rPr lang="en-US" sz="1000" dirty="0">
                <a:solidFill>
                  <a:srgbClr val="E8ED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 accountable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4446984"/>
            <a:ext cx="7513269" cy="188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 expert perspective · contribution and intellectual responsibility must remain visible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32384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SCHOLAR IN THE LOOP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132320" y="126950"/>
            <a:ext cx="15544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PIECE 03 · 03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04800"/>
            <a:ext cx="8229600" cy="12650"/>
          </a:xfrm>
          <a:prstGeom prst="rect">
            <a:avLst/>
          </a:prstGeom>
          <a:solidFill>
            <a:srgbClr val="B9C4C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660350"/>
            <a:ext cx="839419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 THE DIVISION OF LABOR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888950"/>
            <a:ext cx="839419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27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Delegate operations. Retain scientific judgment.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457200" y="1676400"/>
            <a:ext cx="3810000" cy="2260550"/>
          </a:xfrm>
          <a:prstGeom prst="roundRect">
            <a:avLst>
              <a:gd name="adj" fmla="val 4494"/>
            </a:avLst>
          </a:prstGeom>
          <a:solidFill>
            <a:srgbClr val="DDF3ED"/>
          </a:solidFill>
          <a:ln w="9525">
            <a:solidFill>
              <a:srgbClr val="A9D8C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20626" y="1939826"/>
            <a:ext cx="334881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AI-ASSISTED LANE · REVERSIBLE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20626" y="2311301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167D7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57202" y="2349401"/>
            <a:ext cx="15544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63526" y="2311301"/>
            <a:ext cx="11488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terms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20626" y="2654201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167D7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57202" y="2692301"/>
            <a:ext cx="15544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63526" y="2654201"/>
            <a:ext cx="165224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Abstract clustering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20626" y="2997101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167D7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57202" y="3035201"/>
            <a:ext cx="15544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63526" y="2997101"/>
            <a:ext cx="14805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Formatting notes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20626" y="3340001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167D7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57202" y="3378101"/>
            <a:ext cx="15544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63526" y="3340001"/>
            <a:ext cx="154127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Outline proposals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76800" y="1676400"/>
            <a:ext cx="3810000" cy="2260550"/>
          </a:xfrm>
          <a:prstGeom prst="roundRect">
            <a:avLst>
              <a:gd name="adj" fmla="val 4494"/>
            </a:avLst>
          </a:prstGeom>
          <a:solidFill>
            <a:srgbClr val="17324D"/>
          </a:solidFill>
          <a:ln w="9525">
            <a:solidFill>
              <a:srgbClr val="17324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140226" y="1939826"/>
            <a:ext cx="334881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AA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RESEARCHER LANE · ACCOUNTABLE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140226" y="2311301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EAA94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176802" y="2349401"/>
            <a:ext cx="15544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483126" y="2311301"/>
            <a:ext cx="1772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formulation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140226" y="2654201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EAA94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176802" y="2692301"/>
            <a:ext cx="15544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483126" y="2654201"/>
            <a:ext cx="18341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acceptance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140226" y="2997101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EAA94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176802" y="3035201"/>
            <a:ext cx="15544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483126" y="2997101"/>
            <a:ext cx="214575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 &amp; interpretation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140226" y="3340001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EAA94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5176802" y="3378101"/>
            <a:ext cx="15544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483126" y="3340001"/>
            <a:ext cx="103788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claims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57200" y="4446984"/>
            <a:ext cx="7513269" cy="188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SciSpace practitioner testimony · useful boundary, not product validation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32384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SCHOLAR IN THE LOOP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132320" y="126950"/>
            <a:ext cx="15544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PIECE 03 · 04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04800"/>
            <a:ext cx="8229600" cy="12650"/>
          </a:xfrm>
          <a:prstGeom prst="rect">
            <a:avLst/>
          </a:prstGeom>
          <a:solidFill>
            <a:srgbClr val="B9C4C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660350"/>
            <a:ext cx="839419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THE PROCESS, NOT ONLY THE RESULT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888950"/>
            <a:ext cx="8394192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27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Negative paths explain how the final path emerged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09600" y="2095351"/>
            <a:ext cx="1498550" cy="1193750"/>
          </a:xfrm>
          <a:prstGeom prst="roundRect">
            <a:avLst>
              <a:gd name="adj" fmla="val 10639"/>
            </a:avLst>
          </a:prstGeom>
          <a:solidFill>
            <a:srgbClr val="DDF3ED"/>
          </a:solidFill>
          <a:ln w="9525">
            <a:solidFill>
              <a:srgbClr val="A9D8C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58726" y="2308027"/>
            <a:ext cx="122430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58726" y="2612827"/>
            <a:ext cx="122430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0"/>
              </a:spcBef>
              <a:buNone/>
            </a:pPr>
            <a:r>
              <a:rPr lang="en-US" sz="17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tested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2222450" y="2514451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FFFFFF"/>
          </a:solidFill>
          <a:ln w="9525">
            <a:solidFill>
              <a:srgbClr val="B9C4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228610" y="2596902"/>
            <a:ext cx="3432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692301" y="2095351"/>
            <a:ext cx="1498550" cy="1193750"/>
          </a:xfrm>
          <a:prstGeom prst="roundRect">
            <a:avLst>
              <a:gd name="adj" fmla="val 10639"/>
            </a:avLst>
          </a:prstGeom>
          <a:solidFill>
            <a:srgbClr val="F4D7D0"/>
          </a:solidFill>
          <a:ln w="9525">
            <a:solidFill>
              <a:srgbClr val="E1A5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841427" y="2308027"/>
            <a:ext cx="122430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INTERPRETATION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841427" y="2612827"/>
            <a:ext cx="122430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0"/>
              </a:spcBef>
              <a:buNone/>
            </a:pPr>
            <a:r>
              <a:rPr lang="en-US" sz="17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rejected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305151" y="2514451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FFFFFF"/>
          </a:solidFill>
          <a:ln w="9525">
            <a:solidFill>
              <a:srgbClr val="B9C4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311311" y="2596902"/>
            <a:ext cx="3432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775002" y="2095351"/>
            <a:ext cx="1498550" cy="1193750"/>
          </a:xfrm>
          <a:prstGeom prst="roundRect">
            <a:avLst>
              <a:gd name="adj" fmla="val 10639"/>
            </a:avLst>
          </a:prstGeom>
          <a:solidFill>
            <a:srgbClr val="F7E7C8"/>
          </a:solidFill>
          <a:ln w="9525">
            <a:solidFill>
              <a:srgbClr val="E5C98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924127" y="2308027"/>
            <a:ext cx="122430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CALCULATION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924127" y="2612827"/>
            <a:ext cx="122430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0"/>
              </a:spcBef>
              <a:buNone/>
            </a:pPr>
            <a:r>
              <a:rPr lang="en-US" sz="17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revised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387852" y="2514451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FFFFFF"/>
          </a:solidFill>
          <a:ln w="9525">
            <a:solidFill>
              <a:srgbClr val="B9C4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394012" y="2596902"/>
            <a:ext cx="3432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857702" y="2095351"/>
            <a:ext cx="1498550" cy="1193750"/>
          </a:xfrm>
          <a:prstGeom prst="roundRect">
            <a:avLst>
              <a:gd name="adj" fmla="val 10639"/>
            </a:avLst>
          </a:prstGeom>
          <a:solidFill>
            <a:srgbClr val="17324D"/>
          </a:solidFill>
          <a:ln w="9525">
            <a:solidFill>
              <a:srgbClr val="17324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7006828" y="2308027"/>
            <a:ext cx="122430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AA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006828" y="2612827"/>
            <a:ext cx="122430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0"/>
              </a:spcBef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accepted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457200" y="4446984"/>
            <a:ext cx="7901889" cy="188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Periodic Labs founder testimony · process evidence, not independent performance validation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32384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SCHOLAR IN THE LOOP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132320" y="126950"/>
            <a:ext cx="15544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PIECE 03 · 05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04800"/>
            <a:ext cx="8229600" cy="12650"/>
          </a:xfrm>
          <a:prstGeom prst="rect">
            <a:avLst/>
          </a:prstGeom>
          <a:solidFill>
            <a:srgbClr val="B9C4C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660350"/>
            <a:ext cx="839419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CORRECTION REQUIRES LINEAGE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888950"/>
            <a:ext cx="8394192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27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audit is useful only if affected claims can be located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09600" y="2082701"/>
            <a:ext cx="1498550" cy="1193750"/>
          </a:xfrm>
          <a:prstGeom prst="roundRect">
            <a:avLst>
              <a:gd name="adj" fmla="val 10639"/>
            </a:avLst>
          </a:prstGeom>
          <a:solidFill>
            <a:srgbClr val="FFFFFF"/>
          </a:solidFill>
          <a:ln w="9525">
            <a:solidFill>
              <a:srgbClr val="B9C4CC"/>
            </a:solidFill>
          </a:ln>
          <a:effectLst>
            <a:outerShdw sx="100000" sy="100000" kx="0" ky="0" algn="bl" rotWithShape="0" blurRad="63500" dist="25400" dir="5400000">
              <a:srgbClr val="132238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58726" y="2282726"/>
            <a:ext cx="122430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58726" y="2578001"/>
            <a:ext cx="1224305" cy="189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5"/>
              </a:lnSpc>
              <a:spcBef>
                <a:spcPts val="1200"/>
              </a:spcBef>
              <a:buNone/>
            </a:pPr>
            <a:r>
              <a:rPr lang="en-US" sz="13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found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222450" y="2501801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FFFFFF"/>
          </a:solidFill>
          <a:ln w="9525">
            <a:solidFill>
              <a:srgbClr val="B9C4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228610" y="2584252"/>
            <a:ext cx="3432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692301" y="2082701"/>
            <a:ext cx="1498550" cy="1193750"/>
          </a:xfrm>
          <a:prstGeom prst="roundRect">
            <a:avLst>
              <a:gd name="adj" fmla="val 10639"/>
            </a:avLst>
          </a:prstGeom>
          <a:solidFill>
            <a:srgbClr val="FFFFFF"/>
          </a:solidFill>
          <a:ln w="9525">
            <a:solidFill>
              <a:srgbClr val="B9C4CC"/>
            </a:solidFill>
          </a:ln>
          <a:effectLst>
            <a:outerShdw sx="100000" sy="100000" kx="0" ky="0" algn="bl" rotWithShape="0" blurRad="63500" dist="25400" dir="5400000">
              <a:srgbClr val="132238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841427" y="2282726"/>
            <a:ext cx="122430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841427" y="2578001"/>
            <a:ext cx="1224305" cy="379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5"/>
              </a:lnSpc>
              <a:spcBef>
                <a:spcPts val="1200"/>
              </a:spcBef>
              <a:buNone/>
            </a:pPr>
            <a:r>
              <a:rPr lang="en-US" sz="13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Dependencies located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305151" y="2501801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FFFFFF"/>
          </a:solidFill>
          <a:ln w="9525">
            <a:solidFill>
              <a:srgbClr val="B9C4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311311" y="2584252"/>
            <a:ext cx="3432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775002" y="2082701"/>
            <a:ext cx="1498550" cy="1193750"/>
          </a:xfrm>
          <a:prstGeom prst="roundRect">
            <a:avLst>
              <a:gd name="adj" fmla="val 10639"/>
            </a:avLst>
          </a:prstGeom>
          <a:solidFill>
            <a:srgbClr val="F7E7C8"/>
          </a:solidFill>
          <a:ln w="9525">
            <a:solidFill>
              <a:srgbClr val="E5C98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924127" y="2282726"/>
            <a:ext cx="122430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24127" y="2578001"/>
            <a:ext cx="1224305" cy="379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5"/>
              </a:lnSpc>
              <a:spcBef>
                <a:spcPts val="1200"/>
              </a:spcBef>
              <a:buNone/>
            </a:pPr>
            <a:r>
              <a:rPr lang="en-US" sz="13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Repair where possible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87852" y="2501801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FFFFFF"/>
          </a:solidFill>
          <a:ln w="9525">
            <a:solidFill>
              <a:srgbClr val="B9C4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394012" y="2584252"/>
            <a:ext cx="3432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857702" y="2082701"/>
            <a:ext cx="1498550" cy="1193750"/>
          </a:xfrm>
          <a:prstGeom prst="roundRect">
            <a:avLst>
              <a:gd name="adj" fmla="val 10639"/>
            </a:avLst>
          </a:prstGeom>
          <a:solidFill>
            <a:srgbClr val="F4D7D0"/>
          </a:solidFill>
          <a:ln w="9525">
            <a:solidFill>
              <a:srgbClr val="E1A5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7006828" y="2282726"/>
            <a:ext cx="122430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WITHDRAW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006828" y="2578001"/>
            <a:ext cx="1224305" cy="379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5"/>
              </a:lnSpc>
              <a:spcBef>
                <a:spcPts val="1200"/>
              </a:spcBef>
              <a:buNone/>
            </a:pPr>
            <a:r>
              <a:rPr lang="en-US" sz="13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if not fixable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4446984"/>
            <a:ext cx="7513269" cy="188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record supports correction. It does not guarantee correctness.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32384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SCHOLAR IN THE LOOP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132320" y="126950"/>
            <a:ext cx="15544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PIECE 03 · 06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04800"/>
            <a:ext cx="8229600" cy="12650"/>
          </a:xfrm>
          <a:prstGeom prst="rect">
            <a:avLst/>
          </a:prstGeom>
          <a:solidFill>
            <a:srgbClr val="B9C4C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660350"/>
            <a:ext cx="839419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REUSABLE SEVEN-FIELD LOG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888950"/>
            <a:ext cx="8394192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27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 enough context to reconstruct the decision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457200" y="1676400"/>
            <a:ext cx="1828800" cy="990600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9525">
            <a:solidFill>
              <a:srgbClr val="B9C4CC"/>
            </a:solidFill>
          </a:ln>
          <a:effectLst>
            <a:outerShdw sx="100000" sy="100000" kx="0" ky="0" algn="bl" rotWithShape="0" blurRad="63500" dist="25400" dir="5400000">
              <a:srgbClr val="132238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31775" y="1850975"/>
            <a:ext cx="150924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31775" y="2146250"/>
            <a:ext cx="150924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buNone/>
            </a:pPr>
            <a:r>
              <a:rPr lang="en-US" sz="15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400300" y="1676400"/>
            <a:ext cx="1828800" cy="990600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9525">
            <a:solidFill>
              <a:srgbClr val="B9C4CC"/>
            </a:solidFill>
          </a:ln>
          <a:effectLst>
            <a:outerShdw sx="100000" sy="100000" kx="0" ky="0" algn="bl" rotWithShape="0" blurRad="63500" dist="25400" dir="5400000">
              <a:srgbClr val="132238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574875" y="1850975"/>
            <a:ext cx="150924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574875" y="2146250"/>
            <a:ext cx="150924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buNone/>
            </a:pPr>
            <a:r>
              <a:rPr lang="en-US" sz="15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343400" y="1676400"/>
            <a:ext cx="1828800" cy="990600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9525">
            <a:solidFill>
              <a:srgbClr val="B9C4CC"/>
            </a:solidFill>
          </a:ln>
          <a:effectLst>
            <a:outerShdw sx="100000" sy="100000" kx="0" ky="0" algn="bl" rotWithShape="0" blurRad="63500" dist="25400" dir="5400000">
              <a:srgbClr val="132238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517975" y="1850975"/>
            <a:ext cx="150924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17975" y="2146250"/>
            <a:ext cx="150924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buNone/>
            </a:pPr>
            <a:r>
              <a:rPr lang="en-US" sz="15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/ model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286500" y="1676400"/>
            <a:ext cx="2286000" cy="990600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9525">
            <a:solidFill>
              <a:srgbClr val="B9C4CC"/>
            </a:solidFill>
          </a:ln>
          <a:effectLst>
            <a:outerShdw sx="100000" sy="100000" kx="0" ky="0" algn="bl" rotWithShape="0" blurRad="63500" dist="25400" dir="5400000">
              <a:srgbClr val="132238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461075" y="1850975"/>
            <a:ext cx="197558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61075" y="2146250"/>
            <a:ext cx="1975586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buNone/>
            </a:pPr>
            <a:r>
              <a:rPr lang="en-US" sz="15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Inputs &amp; restrictions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57200" y="2838450"/>
            <a:ext cx="1828800" cy="990600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9525">
            <a:solidFill>
              <a:srgbClr val="B9C4CC"/>
            </a:solidFill>
          </a:ln>
          <a:effectLst>
            <a:outerShdw sx="100000" sy="100000" kx="0" ky="0" algn="bl" rotWithShape="0" blurRad="63500" dist="25400" dir="5400000">
              <a:srgbClr val="132238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31775" y="3013025"/>
            <a:ext cx="150924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31775" y="3308300"/>
            <a:ext cx="150924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buNone/>
            </a:pPr>
            <a:r>
              <a:rPr lang="en-US" sz="15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used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2400300" y="2838450"/>
            <a:ext cx="1828800" cy="990600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9525">
            <a:solidFill>
              <a:srgbClr val="B9C4CC"/>
            </a:solidFill>
          </a:ln>
          <a:effectLst>
            <a:outerShdw sx="100000" sy="100000" kx="0" ky="0" algn="bl" rotWithShape="0" blurRad="63500" dist="25400" dir="5400000">
              <a:srgbClr val="132238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2574875" y="3013025"/>
            <a:ext cx="150924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574875" y="3308300"/>
            <a:ext cx="150924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buNone/>
            </a:pPr>
            <a:r>
              <a:rPr lang="en-US" sz="15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343400" y="2838450"/>
            <a:ext cx="1828800" cy="990600"/>
          </a:xfrm>
          <a:prstGeom prst="roundRect">
            <a:avLst>
              <a:gd name="adj" fmla="val 8974"/>
            </a:avLst>
          </a:prstGeom>
          <a:solidFill>
            <a:srgbClr val="17324D"/>
          </a:solidFill>
          <a:ln w="9525">
            <a:solidFill>
              <a:srgbClr val="17324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517975" y="3013025"/>
            <a:ext cx="150924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AA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17975" y="3308300"/>
            <a:ext cx="150924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 decision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32384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SCHOLAR IN THE LOOP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132320" y="126950"/>
            <a:ext cx="15544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PIECE 03 · 07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04800"/>
            <a:ext cx="8229600" cy="12650"/>
          </a:xfrm>
          <a:prstGeom prst="rect">
            <a:avLst/>
          </a:prstGeom>
          <a:solidFill>
            <a:srgbClr val="B9C4C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660350"/>
            <a:ext cx="336793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RECORDS, TWO AUDIENCES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914251"/>
            <a:ext cx="3367939" cy="1151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24"/>
              </a:lnSpc>
              <a:spcBef>
                <a:spcPts val="800"/>
              </a:spcBef>
              <a:buNone/>
            </a:pPr>
            <a:r>
              <a:rPr lang="en-US" sz="28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lineage is richer than public disclosure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2294781"/>
            <a:ext cx="3367939" cy="780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8"/>
              </a:lnSpc>
              <a:spcBef>
                <a:spcPts val="1800"/>
              </a:spcBef>
              <a:buNone/>
            </a:pPr>
            <a:r>
              <a:rPr lang="en-US" sz="1600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 journal, university, funder, disciplinary, privacy, ethics, IRB, and IP requirements.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495800" y="888950"/>
            <a:ext cx="4191000" cy="1600200"/>
          </a:xfrm>
          <a:prstGeom prst="roundRect">
            <a:avLst>
              <a:gd name="adj" fmla="val 7936"/>
            </a:avLst>
          </a:prstGeom>
          <a:solidFill>
            <a:srgbClr val="FFFFFF"/>
          </a:solidFill>
          <a:ln w="9525">
            <a:solidFill>
              <a:srgbClr val="B9C4CC"/>
            </a:solidFill>
          </a:ln>
          <a:effectLst>
            <a:outerShdw sx="100000" sy="100000" kx="0" ky="0" algn="bl" rotWithShape="0" blurRad="63500" dist="25400" dir="5400000">
              <a:srgbClr val="132238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746575" y="1139726"/>
            <a:ext cx="37632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PROCESS LOG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46575" y="1422202"/>
            <a:ext cx="376323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buNone/>
            </a:pPr>
            <a:r>
              <a:rPr lang="en-US" sz="19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operational lineage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746575" y="1825377"/>
            <a:ext cx="3763238" cy="377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spcBef>
                <a:spcPts val="1000"/>
              </a:spcBef>
              <a:buNone/>
            </a:pPr>
            <a:r>
              <a:rPr lang="en-US" sz="1100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Prompts · evidence · failed paths · verification · corrections · decisions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495800" y="2641550"/>
            <a:ext cx="4191000" cy="1600200"/>
          </a:xfrm>
          <a:prstGeom prst="roundRect">
            <a:avLst>
              <a:gd name="adj" fmla="val 7936"/>
            </a:avLst>
          </a:prstGeom>
          <a:solidFill>
            <a:srgbClr val="17324D"/>
          </a:solidFill>
          <a:ln w="9525">
            <a:solidFill>
              <a:srgbClr val="17324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746575" y="2892326"/>
            <a:ext cx="37632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AA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DISCLOSURE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46575" y="3187601"/>
            <a:ext cx="3763238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 assistance,</a:t>
            </a:r>
            <a:endParaRPr lang="en-US" sz="1800" dirty="0"/>
          </a:p>
          <a:p>
            <a:pPr algn="l" indent="0" marL="0">
              <a:spcBef>
                <a:spcPts val="1200"/>
              </a:spcBef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stated proportionally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746575" y="3835301"/>
            <a:ext cx="3763238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spcBef>
                <a:spcPts val="900"/>
              </a:spcBef>
              <a:buNone/>
            </a:pPr>
            <a:r>
              <a:rPr lang="en-US" sz="1000" dirty="0">
                <a:solidFill>
                  <a:srgbClr val="E8ED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Audience-facing and policy-specific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32384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SCHOLAR IN THE LOOP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132320" y="126950"/>
            <a:ext cx="15544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PIECE 03 · 08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04800"/>
            <a:ext cx="8229600" cy="12650"/>
          </a:xfrm>
          <a:prstGeom prst="rect">
            <a:avLst/>
          </a:prstGeom>
          <a:solidFill>
            <a:srgbClr val="B9C4C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660350"/>
            <a:ext cx="839419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 &amp; DISCLOSURE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888950"/>
            <a:ext cx="839419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26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 the argument, not just the presentation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514326"/>
            <a:ext cx="54406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90600" y="2034480"/>
            <a:ext cx="6794450" cy="0"/>
          </a:xfrm>
          <a:prstGeom prst="line">
            <a:avLst/>
          </a:prstGeom>
          <a:noFill/>
          <a:ln w="9525">
            <a:solidFill>
              <a:srgbClr val="B9C4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90600" y="1514326"/>
            <a:ext cx="693033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 News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90600" y="1739652"/>
            <a:ext cx="6930339" cy="188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spcBef>
                <a:spcPts val="200"/>
              </a:spcBef>
              <a:buNone/>
            </a:pPr>
            <a:r>
              <a:rPr lang="en-US" sz="1100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Expert perspective · contribution and intellectual responsibility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153543"/>
            <a:ext cx="54406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90600" y="2673697"/>
            <a:ext cx="6794450" cy="0"/>
          </a:xfrm>
          <a:prstGeom prst="line">
            <a:avLst/>
          </a:prstGeom>
          <a:noFill/>
          <a:ln w="9525">
            <a:solidFill>
              <a:srgbClr val="B9C4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90600" y="2153543"/>
            <a:ext cx="693033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Latent Space / Periodic Labs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90600" y="2378869"/>
            <a:ext cx="6930339" cy="188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spcBef>
                <a:spcPts val="200"/>
              </a:spcBef>
              <a:buNone/>
            </a:pPr>
            <a:r>
              <a:rPr lang="en-US" sz="1100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Commercially interested founder testimony · process lineage and negative results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2792760"/>
            <a:ext cx="54406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90600" y="3312914"/>
            <a:ext cx="6794450" cy="0"/>
          </a:xfrm>
          <a:prstGeom prst="line">
            <a:avLst/>
          </a:prstGeom>
          <a:noFill/>
          <a:ln w="9525">
            <a:solidFill>
              <a:srgbClr val="B9C4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90600" y="2792760"/>
            <a:ext cx="693033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SciSpace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90600" y="3018086"/>
            <a:ext cx="6930339" cy="188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spcBef>
                <a:spcPts val="200"/>
              </a:spcBef>
              <a:buNone/>
            </a:pPr>
            <a:r>
              <a:rPr lang="en-US" sz="1100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Practitioner and reviewer testimony · task boundaries, privacy, ethics, and IRB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3431977"/>
            <a:ext cx="54406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90600" y="3952131"/>
            <a:ext cx="6794450" cy="0"/>
          </a:xfrm>
          <a:prstGeom prst="line">
            <a:avLst/>
          </a:prstGeom>
          <a:noFill/>
          <a:ln w="9525">
            <a:solidFill>
              <a:srgbClr val="B9C4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90600" y="3431977"/>
            <a:ext cx="693033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Retraction Watch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90600" y="3657302"/>
            <a:ext cx="6930339" cy="188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spcBef>
                <a:spcPts val="200"/>
              </a:spcBef>
              <a:buNone/>
            </a:pPr>
            <a:r>
              <a:rPr lang="en-US" sz="1100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case · audit, revision, and withdrawal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472434"/>
            <a:ext cx="6476899" cy="188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URLs and timestamps appear in the YouTube description and linked article.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Scholar in the Loop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Preserve Responsibility by Recording the Research Process</dc:title>
  <dc:subject>Scholar in the Loop audience video visual deck</dc:subject>
  <dc:creator>Zhekai Li</dc:creator>
  <cp:lastModifiedBy>Zhekai Li</cp:lastModifiedBy>
  <cp:revision>1</cp:revision>
  <dcterms:created xsi:type="dcterms:W3CDTF">2026-10-10T19:21:27Z</dcterms:created>
  <dcterms:modified xsi:type="dcterms:W3CDTF">2026-10-10T19:21:27Z</dcterms:modified>
</cp:coreProperties>
</file>